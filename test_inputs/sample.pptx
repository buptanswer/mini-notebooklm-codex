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notesSlides/notesSlide1.xml" Type="http://schemas.openxmlformats.org/officeDocument/2006/relationships/notesSlide"/><Relationship Id="rId25" Target="notesSlides/notesSlide2.xml" Type="http://schemas.openxmlformats.org/officeDocument/2006/relationships/notesSlide"/><Relationship Id="rId26" Target="notesSlides/notesSlide3.xml" Type="http://schemas.openxmlformats.org/officeDocument/2006/relationships/notesSlide"/><Relationship Id="rId27" Target="notesSlides/notesSlide4.xml" Type="http://schemas.openxmlformats.org/officeDocument/2006/relationships/notesSlide"/><Relationship Id="rId28" Target="notesSlides/notesSlide5.xml" Type="http://schemas.openxmlformats.org/officeDocument/2006/relationships/notesSlide"/><Relationship Id="rId29" Target="notesSlides/notesSlide6.xml" Type="http://schemas.openxmlformats.org/officeDocument/2006/relationships/notesSlide"/><Relationship Id="rId3" Target="presProps.xml" Type="http://schemas.openxmlformats.org/officeDocument/2006/relationships/presProps"/><Relationship Id="rId30" Target="notesSlides/notesSlide7.xml" Type="http://schemas.openxmlformats.org/officeDocument/2006/relationships/notesSlide"/><Relationship Id="rId31" Target="notesSlides/notesSlide8.xml" Type="http://schemas.openxmlformats.org/officeDocument/2006/relationships/notesSlide"/><Relationship Id="rId32" Target="notesSlides/notesSlide9.xml" Type="http://schemas.openxmlformats.org/officeDocument/2006/relationships/notesSlide"/><Relationship Id="rId33" Target="notesSlides/notesSlide10.xml" Type="http://schemas.openxmlformats.org/officeDocument/2006/relationships/notesSlide"/><Relationship Id="rId34" Target="notesSlides/notesSlide11.xml" Type="http://schemas.openxmlformats.org/officeDocument/2006/relationships/notesSlide"/><Relationship Id="rId35" Target="notesSlides/notesSlide12.xml" Type="http://schemas.openxmlformats.org/officeDocument/2006/relationships/notesSlide"/><Relationship Id="rId36" Target="notesSlides/notesSlide13.xml" Type="http://schemas.openxmlformats.org/officeDocument/2006/relationships/notesSlide"/><Relationship Id="rId37" Target="notesSlides/notesSlide14.xml" Type="http://schemas.openxmlformats.org/officeDocument/2006/relationships/notesSlide"/><Relationship Id="rId38" Target="notesSlides/notesSlide15.xml" Type="http://schemas.openxmlformats.org/officeDocument/2006/relationships/notesSlide"/><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大家好，欢迎查看这份“智能推荐测试样本PPT”。这份PPT的主要目的是作为一个测试文件，用于检验各种文件解析工具对不同类型内容元素的识别和处理能力。接下来，我们将逐一展示PPT中包含的各种元素。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这是我们本次测试PPT的目录。可以看到，我们将依次展示文本、公式、图片、表格等多种元素类型，确保覆盖了所有需要测试的内容格式。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首先是文本元素的展示。这一页包含了一段关于智能推荐系统的描述性文本，用于测试解析工具对纯文本内容的处理能力。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接下来是数学公式的示例。这里展示了一个行间公式，即均方误差损失函数，这是机器学习中常用的评估指标。我们需要测试解析工具能否正确识别和渲染这类数学表达式。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这一页展示了图片元素，包括图片本身、图片描述和图片脚注。这张图描绘了推荐系统中用户行为的典型流程，测试工具能否正确解析图片及其相关的说明文字。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这一页展示了表格元素，包括表格数据、表格描述和表格脚注。这个用户-物品评分矩阵是协同过滤算法的基础数据结构，用于测试解析工具对表格的处理能力。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这一页展示了拼音元素。我们在一些中文词汇后添加了拼音标注，用于测试解析工具对拼音格式的识别和处理。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这一页展示了代码块元素。这里是一段用于计算用户相似度的Python代码，包含了函数定义、注释和示例调用。我们需要测试解析工具能否正确识别代码块并保留其格式。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这一页展示了参考文献元素。我们列出了三条不同类型的参考文献，包括会议论文和期刊文章，用于测试解析工具对参考文献格式的处理能力。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这一页展示了算法块元素。这里用伪代码的形式描述了基于用户的协同过滤推荐算法的核心步骤，用于测试解析工具对算法描述格式的处理能力。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这一页展示了列表元素，包括有序列表和无序列表。我们分别列出了推荐系统的优点和挑战，用于测试解析工具对不同列表格式的处理能力。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这一页展示了页眉和页脚元素。页眉显示了PPT的标题，页脚显示了文件说明和页码，用于测试解析工具对这些页面布局元素的处理能力。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这一页展示了装订线旁注和页面脚注元素。旁注位于页面左侧，脚注位于页面底部，用于测试解析工具对这些注释类元素的处理能力。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这一页展示了多种元素的混合使用，包括文本、公式、表格和图片。这种组合更接近真实PPT的内容结构，用于测试解析工具在复杂场景下的综合处理能力。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最后，我们对本次测试PPT进行总结。这份PPT涵盖了您要求的所有元素类型，希望能满足您作为测试文件的需求。感谢您的观看！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12" Target="../media/image12.png" Type="http://schemas.openxmlformats.org/officeDocument/2006/relationships/image"/><Relationship Id="rId13" Target="../media/image13.svg" Type="http://schemas.openxmlformats.org/officeDocument/2006/relationships/image"/><Relationship Id="rId14" Target="../media/image14.png" Type="http://schemas.openxmlformats.org/officeDocument/2006/relationships/image"/><Relationship Id="rId15" Target="../media/image15.svg" Type="http://schemas.openxmlformats.org/officeDocument/2006/relationships/image"/><Relationship Id="rId16" Target="../media/image16.png" Type="http://schemas.openxmlformats.org/officeDocument/2006/relationships/image"/><Relationship Id="rId17" Target="../media/image17.svg" Type="http://schemas.openxmlformats.org/officeDocument/2006/relationships/image"/><Relationship Id="rId18" Target="../media/image18.png" Type="http://schemas.openxmlformats.org/officeDocument/2006/relationships/image"/><Relationship Id="rId19" Target="../media/image19.svg" Type="http://schemas.openxmlformats.org/officeDocument/2006/relationships/image"/><Relationship Id="rId2" Target="../media/image2.png" Type="http://schemas.openxmlformats.org/officeDocument/2006/relationships/image"/><Relationship Id="rId20" Target="../notesSlides/notesSlide2.xml" Type="http://schemas.openxmlformats.org/officeDocument/2006/relationships/notesSlid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3.xml" Type="http://schemas.openxmlformats.org/officeDocument/2006/relationships/notesSlide"/><Relationship Id="rId2" Target="../media/image20.png" Type="http://schemas.openxmlformats.org/officeDocument/2006/relationships/image"/><Relationship Id="rId3" Target="../media/image21.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 Id="rId8"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4.jpeg" Type="http://schemas.openxmlformats.org/officeDocument/2006/relationships/image"/><Relationship Id="rId3" Target="../media/image35.png" Type="http://schemas.openxmlformats.org/officeDocument/2006/relationships/image"/><Relationship Id="rId4" Target="../media/image36.svg" Type="http://schemas.openxmlformats.org/officeDocument/2006/relationships/image"/><Relationship Id="rId5"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 Id="rId6"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9.png" Type="http://schemas.openxmlformats.org/officeDocument/2006/relationships/image"/><Relationship Id="rId3" Target="../media/image40.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35.png" Type="http://schemas.openxmlformats.org/officeDocument/2006/relationships/image"/><Relationship Id="rId7" Target="../media/image36.svg" Type="http://schemas.openxmlformats.org/officeDocument/2006/relationships/image"/><Relationship Id="rId8"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7.png" Type="http://schemas.openxmlformats.org/officeDocument/2006/relationships/image"/><Relationship Id="rId11" Target="../media/image48.svg" Type="http://schemas.openxmlformats.org/officeDocument/2006/relationships/image"/><Relationship Id="rId12" Target="../media/image49.png" Type="http://schemas.openxmlformats.org/officeDocument/2006/relationships/image"/><Relationship Id="rId13" Target="../media/image50.svg" Type="http://schemas.openxmlformats.org/officeDocument/2006/relationships/image"/><Relationship Id="rId14" Target="../notesSlides/notesSlide10.xml" Type="http://schemas.openxmlformats.org/officeDocument/2006/relationships/notesSlide"/><Relationship Id="rId2" Target="../media/image12.png" Type="http://schemas.openxmlformats.org/officeDocument/2006/relationships/image"/><Relationship Id="rId3" Target="../media/image13.svg" Type="http://schemas.openxmlformats.org/officeDocument/2006/relationships/image"/><Relationship Id="rId4" Target="../media/image41.png" Type="http://schemas.openxmlformats.org/officeDocument/2006/relationships/image"/><Relationship Id="rId5" Target="../media/image42.svg" Type="http://schemas.openxmlformats.org/officeDocument/2006/relationships/image"/><Relationship Id="rId6" Target="../media/image43.png" Type="http://schemas.openxmlformats.org/officeDocument/2006/relationships/image"/><Relationship Id="rId7" Target="../media/image44.svg" Type="http://schemas.openxmlformats.org/officeDocument/2006/relationships/image"/><Relationship Id="rId8" Target="../media/image45.png" Type="http://schemas.openxmlformats.org/officeDocument/2006/relationships/image"/><Relationship Id="rId9" Target="../media/image4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0.png" Type="http://schemas.openxmlformats.org/officeDocument/2006/relationships/image"/><Relationship Id="rId3" Target="../media/image31.sv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 Id="rId6" Target="../media/image51.png" Type="http://schemas.openxmlformats.org/officeDocument/2006/relationships/image"/><Relationship Id="rId7" Target="../media/image52.svg" Type="http://schemas.openxmlformats.org/officeDocument/2006/relationships/image"/><Relationship Id="rId8"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3.png" Type="http://schemas.openxmlformats.org/officeDocument/2006/relationships/image"/><Relationship Id="rId3" Target="../media/image54.svg" Type="http://schemas.openxmlformats.org/officeDocument/2006/relationships/image"/><Relationship Id="rId4"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5.png" Type="http://schemas.openxmlformats.org/officeDocument/2006/relationships/image"/><Relationship Id="rId3" Target="../media/image56.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media/image57.png" Type="http://schemas.openxmlformats.org/officeDocument/2006/relationships/image"/><Relationship Id="rId7" Target="../media/image58.svg" Type="http://schemas.openxmlformats.org/officeDocument/2006/relationships/image"/><Relationship Id="rId8"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7.png" Type="http://schemas.openxmlformats.org/officeDocument/2006/relationships/image"/><Relationship Id="rId11" Target="../media/image58.svg" Type="http://schemas.openxmlformats.org/officeDocument/2006/relationships/image"/><Relationship Id="rId12" Target="../media/image63.jpeg" Type="http://schemas.openxmlformats.org/officeDocument/2006/relationships/image"/><Relationship Id="rId13" Target="../notesSlides/notesSlide14.xml" Type="http://schemas.openxmlformats.org/officeDocument/2006/relationships/notesSlide"/><Relationship Id="rId2" Target="../media/image16.png" Type="http://schemas.openxmlformats.org/officeDocument/2006/relationships/image"/><Relationship Id="rId3" Target="../media/image17.svg" Type="http://schemas.openxmlformats.org/officeDocument/2006/relationships/image"/><Relationship Id="rId4" Target="../media/image59.png" Type="http://schemas.openxmlformats.org/officeDocument/2006/relationships/image"/><Relationship Id="rId5" Target="../media/image60.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61.png" Type="http://schemas.openxmlformats.org/officeDocument/2006/relationships/image"/><Relationship Id="rId9" Target="../media/image6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0.png" Type="http://schemas.openxmlformats.org/officeDocument/2006/relationships/image"/><Relationship Id="rId2" Target="../media/image1.jpeg" Type="http://schemas.openxmlformats.org/officeDocument/2006/relationships/image"/><Relationship Id="rId3" Target="../media/image64.png" Type="http://schemas.openxmlformats.org/officeDocument/2006/relationships/image"/><Relationship Id="rId4" Target="../media/image65.svg" Type="http://schemas.openxmlformats.org/officeDocument/2006/relationships/image"/><Relationship Id="rId5" Target="../media/image66.png" Type="http://schemas.openxmlformats.org/officeDocument/2006/relationships/image"/><Relationship Id="rId6" Target="../media/image67.svg" Type="http://schemas.openxmlformats.org/officeDocument/2006/relationships/image"/><Relationship Id="rId7" Target="../media/image68.png" Type="http://schemas.openxmlformats.org/officeDocument/2006/relationships/image"/><Relationship Id="rId8" Target="../media/image69.svg" Type="http://schemas.openxmlformats.org/officeDocument/2006/relationships/image"/><Relationship Id="rId9" Target="../notesSlides/notesSlide15.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1016000" y="2413000"/>
            <a:ext cx="1016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FFFFFF"/>
                </a:solidFill>
                <a:latin typeface="Noto Sans SC"/>
                <a:ea typeface="Noto Sans SC"/>
                <a:cs typeface="Noto Sans SC"/>
                <a:sym typeface="Noto Sans SC"/>
              </a:rPr>
              <a:t>智能推荐测试样本PPT</a:t>
            </a:r>
            <a:endParaRPr lang="en-US" sz="1100"/>
          </a:p>
        </p:txBody>
      </p:sp>
      <p:sp>
        <p:nvSpPr>
          <p:cNvPr name="AutoShape 4" id="4"/>
          <p:cNvSpPr/>
          <p:nvPr/>
        </p:nvSpPr>
        <p:spPr>
          <a:xfrm rot="0" flipH="false" flipV="false">
            <a:off x="1016000" y="3238500"/>
            <a:ext cx="10160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000">
                <a:solidFill>
                  <a:srgbClr val="FFFFFF">
                    <a:alpha val="80000"/>
                  </a:srgbClr>
                </a:solidFill>
                <a:latin typeface="Noto Sans SC"/>
                <a:ea typeface="Noto Sans SC"/>
                <a:cs typeface="Noto Sans SC"/>
                <a:sym typeface="Noto Sans SC"/>
              </a:rPr>
              <a:t>用于文件解析能力测试</a:t>
            </a:r>
            <a:endParaRPr lang="en-US" sz="1100"/>
          </a:p>
        </p:txBody>
      </p:sp>
      <p:cxnSp>
        <p:nvCxnSpPr>
          <p:cNvPr name="Connector 5" id="5"/>
          <p:cNvCxnSpPr/>
          <p:nvPr/>
        </p:nvCxnSpPr>
        <p:spPr>
          <a:xfrm rot="-34376" flipH="false" flipV="false">
            <a:off x="5461032" y="3930650"/>
            <a:ext cx="1270000" cy="12700"/>
          </a:xfrm>
          <a:prstGeom prst="straightConnector1">
            <a:avLst/>
          </a:prstGeom>
          <a:solidFill>
            <a:srgbClr val="DEE0E3">
              <a:alpha val="100000"/>
            </a:srgbClr>
          </a:solidFill>
          <a:ln w="25400" cmpd="sng" cap="flat">
            <a:solidFill>
              <a:srgbClr val="007AFF">
                <a:alpha val="100000"/>
              </a:srgbClr>
            </a:solidFill>
            <a:prstDash val="solid"/>
            <a:round/>
            <a:headEnd type="none" w="lg" len="lg"/>
            <a:tailEnd type="none" w="lg" len="lg"/>
          </a:ln>
        </p:spPr>
      </p:cxn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2F2F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7AFF"/>
                </a:solidFill>
                <a:latin typeface="Noto Sans SC"/>
                <a:ea typeface="Noto Sans SC"/>
                <a:cs typeface="Noto Sans SC"/>
                <a:sym typeface="Noto Sans SC"/>
              </a:rPr>
              <a:t>目录</a:t>
            </a:r>
            <a:endParaRPr lang="en-US" sz="1100"/>
          </a:p>
        </p:txBody>
      </p:sp>
      <p:sp>
        <p:nvSpPr>
          <p:cNvPr name="AutoShape 3" id="3"/>
          <p:cNvSpPr/>
          <p:nvPr/>
        </p:nvSpPr>
        <p:spPr>
          <a:xfrm rot="0" flipH="false" flipV="false">
            <a:off x="762000" y="1651000"/>
            <a:ext cx="3429000" cy="1270000"/>
          </a:xfrm>
          <a:prstGeom prst="roundRect">
            <a:avLst>
              <a:gd name="adj" fmla="val 10000"/>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905000"/>
            <a:ext cx="406400" cy="406400"/>
          </a:xfrm>
          <a:prstGeom prst="rect">
            <a:avLst/>
          </a:prstGeom>
        </p:spPr>
      </p:pic>
      <p:sp>
        <p:nvSpPr>
          <p:cNvPr name="AutoShape 5" id="5"/>
          <p:cNvSpPr/>
          <p:nvPr/>
        </p:nvSpPr>
        <p:spPr>
          <a:xfrm rot="0" flipH="false" flipV="false">
            <a:off x="1524000" y="1841500"/>
            <a:ext cx="2413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01. 文本元素示例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999999"/>
                </a:solidFill>
                <a:latin typeface="Noto Sans SC"/>
                <a:ea typeface="Noto Sans SC"/>
                <a:cs typeface="Noto Sans SC"/>
                <a:sym typeface="Noto Sans SC"/>
              </a:rPr>
              <a:t>基础文本格式与样式展示</a:t>
            </a:r>
          </a:p>
        </p:txBody>
      </p:sp>
      <p:sp>
        <p:nvSpPr>
          <p:cNvPr name="AutoShape 6" id="6"/>
          <p:cNvSpPr/>
          <p:nvPr/>
        </p:nvSpPr>
        <p:spPr>
          <a:xfrm rot="0" flipH="false" flipV="false">
            <a:off x="4381500" y="1651000"/>
            <a:ext cx="3429000" cy="1270000"/>
          </a:xfrm>
          <a:prstGeom prst="roundRect">
            <a:avLst>
              <a:gd name="adj" fmla="val 10000"/>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35500" y="1905000"/>
            <a:ext cx="406400" cy="406400"/>
          </a:xfrm>
          <a:prstGeom prst="rect">
            <a:avLst/>
          </a:prstGeom>
        </p:spPr>
      </p:pic>
      <p:sp>
        <p:nvSpPr>
          <p:cNvPr name="AutoShape 8" id="8"/>
          <p:cNvSpPr/>
          <p:nvPr/>
        </p:nvSpPr>
        <p:spPr>
          <a:xfrm rot="0" flipH="false" flipV="false">
            <a:off x="5143500" y="1841500"/>
            <a:ext cx="2413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02. 数学公式示例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999999"/>
                </a:solidFill>
                <a:latin typeface="Noto Sans SC"/>
                <a:ea typeface="Noto Sans SC"/>
                <a:cs typeface="Noto Sans SC"/>
                <a:sym typeface="Noto Sans SC"/>
              </a:rPr>
              <a:t>复杂公式排版与渲染</a:t>
            </a:r>
          </a:p>
        </p:txBody>
      </p:sp>
      <p:sp>
        <p:nvSpPr>
          <p:cNvPr name="AutoShape 9" id="9"/>
          <p:cNvSpPr/>
          <p:nvPr/>
        </p:nvSpPr>
        <p:spPr>
          <a:xfrm rot="0" flipH="false" flipV="false">
            <a:off x="8001000" y="1651000"/>
            <a:ext cx="3429000" cy="1270000"/>
          </a:xfrm>
          <a:prstGeom prst="roundRect">
            <a:avLst>
              <a:gd name="adj" fmla="val 10000"/>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255000" y="1905000"/>
            <a:ext cx="406400" cy="406400"/>
          </a:xfrm>
          <a:prstGeom prst="rect">
            <a:avLst/>
          </a:prstGeom>
        </p:spPr>
      </p:pic>
      <p:sp>
        <p:nvSpPr>
          <p:cNvPr name="AutoShape 11" id="11"/>
          <p:cNvSpPr/>
          <p:nvPr/>
        </p:nvSpPr>
        <p:spPr>
          <a:xfrm rot="0" flipH="false" flipV="false">
            <a:off x="8763000" y="1841500"/>
            <a:ext cx="2413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03. 图片元素示例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999999"/>
                </a:solidFill>
                <a:latin typeface="Noto Sans SC"/>
                <a:ea typeface="Noto Sans SC"/>
                <a:cs typeface="Noto Sans SC"/>
                <a:sym typeface="Noto Sans SC"/>
              </a:rPr>
              <a:t>图片插入与裁剪演示</a:t>
            </a:r>
          </a:p>
        </p:txBody>
      </p:sp>
      <p:sp>
        <p:nvSpPr>
          <p:cNvPr name="AutoShape 12" id="12"/>
          <p:cNvSpPr/>
          <p:nvPr/>
        </p:nvSpPr>
        <p:spPr>
          <a:xfrm rot="0" flipH="false" flipV="false">
            <a:off x="762000" y="3111500"/>
            <a:ext cx="3429000" cy="1270000"/>
          </a:xfrm>
          <a:prstGeom prst="roundRect">
            <a:avLst>
              <a:gd name="adj" fmla="val 10000"/>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3365500"/>
            <a:ext cx="406400" cy="406400"/>
          </a:xfrm>
          <a:prstGeom prst="rect">
            <a:avLst/>
          </a:prstGeom>
        </p:spPr>
      </p:pic>
      <p:sp>
        <p:nvSpPr>
          <p:cNvPr name="AutoShape 14" id="14"/>
          <p:cNvSpPr/>
          <p:nvPr/>
        </p:nvSpPr>
        <p:spPr>
          <a:xfrm rot="0" flipH="false" flipV="false">
            <a:off x="1524000" y="3302000"/>
            <a:ext cx="2413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04. 表格元素示例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999999"/>
                </a:solidFill>
                <a:latin typeface="Noto Sans SC"/>
                <a:ea typeface="Noto Sans SC"/>
                <a:cs typeface="Noto Sans SC"/>
                <a:sym typeface="Noto Sans SC"/>
              </a:rPr>
              <a:t>数据表格的创建与美化</a:t>
            </a:r>
          </a:p>
        </p:txBody>
      </p:sp>
      <p:sp>
        <p:nvSpPr>
          <p:cNvPr name="AutoShape 15" id="15"/>
          <p:cNvSpPr/>
          <p:nvPr/>
        </p:nvSpPr>
        <p:spPr>
          <a:xfrm rot="0" flipH="false" flipV="false">
            <a:off x="4381500" y="3111500"/>
            <a:ext cx="3429000" cy="1270000"/>
          </a:xfrm>
          <a:prstGeom prst="roundRect">
            <a:avLst>
              <a:gd name="adj" fmla="val 10000"/>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4635500" y="3365500"/>
            <a:ext cx="406400" cy="406400"/>
          </a:xfrm>
          <a:prstGeom prst="rect">
            <a:avLst/>
          </a:prstGeom>
        </p:spPr>
      </p:pic>
      <p:sp>
        <p:nvSpPr>
          <p:cNvPr name="AutoShape 17" id="17"/>
          <p:cNvSpPr/>
          <p:nvPr/>
        </p:nvSpPr>
        <p:spPr>
          <a:xfrm rot="0" flipH="false" flipV="false">
            <a:off x="5143500" y="3302000"/>
            <a:ext cx="2413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05. 拼音元素示例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999999"/>
                </a:solidFill>
                <a:latin typeface="Noto Sans SC"/>
                <a:ea typeface="Noto Sans SC"/>
                <a:cs typeface="Noto Sans SC"/>
                <a:sym typeface="Noto Sans SC"/>
              </a:rPr>
              <a:t>文字拼音标注功能展示</a:t>
            </a:r>
          </a:p>
        </p:txBody>
      </p:sp>
      <p:sp>
        <p:nvSpPr>
          <p:cNvPr name="AutoShape 18" id="18"/>
          <p:cNvSpPr/>
          <p:nvPr/>
        </p:nvSpPr>
        <p:spPr>
          <a:xfrm rot="0" flipH="false" flipV="false">
            <a:off x="8001000" y="3111500"/>
            <a:ext cx="3429000" cy="1270000"/>
          </a:xfrm>
          <a:prstGeom prst="roundRect">
            <a:avLst>
              <a:gd name="adj" fmla="val 10000"/>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8255000" y="3365500"/>
            <a:ext cx="406400" cy="406400"/>
          </a:xfrm>
          <a:prstGeom prst="rect">
            <a:avLst/>
          </a:prstGeom>
        </p:spPr>
      </p:pic>
      <p:sp>
        <p:nvSpPr>
          <p:cNvPr name="AutoShape 20" id="20"/>
          <p:cNvSpPr/>
          <p:nvPr/>
        </p:nvSpPr>
        <p:spPr>
          <a:xfrm rot="0" flipH="false" flipV="false">
            <a:off x="8763000" y="3302000"/>
            <a:ext cx="2413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06. 代码块示例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999999"/>
                </a:solidFill>
                <a:latin typeface="Noto Sans SC"/>
                <a:ea typeface="Noto Sans SC"/>
                <a:cs typeface="Noto Sans SC"/>
                <a:sym typeface="Noto Sans SC"/>
              </a:rPr>
              <a:t>代码高亮与语法展示</a:t>
            </a:r>
          </a:p>
        </p:txBody>
      </p:sp>
      <p:sp>
        <p:nvSpPr>
          <p:cNvPr name="AutoShape 21" id="21"/>
          <p:cNvSpPr/>
          <p:nvPr/>
        </p:nvSpPr>
        <p:spPr>
          <a:xfrm rot="0" flipH="false" flipV="false">
            <a:off x="762000" y="4572000"/>
            <a:ext cx="3429000" cy="1270000"/>
          </a:xfrm>
          <a:prstGeom prst="roundRect">
            <a:avLst>
              <a:gd name="adj" fmla="val 10000"/>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1016000" y="4826000"/>
            <a:ext cx="406400" cy="406400"/>
          </a:xfrm>
          <a:prstGeom prst="rect">
            <a:avLst/>
          </a:prstGeom>
        </p:spPr>
      </p:pic>
      <p:sp>
        <p:nvSpPr>
          <p:cNvPr name="AutoShape 23" id="23"/>
          <p:cNvSpPr/>
          <p:nvPr/>
        </p:nvSpPr>
        <p:spPr>
          <a:xfrm rot="0" flipH="false" flipV="false">
            <a:off x="1524000" y="4762500"/>
            <a:ext cx="2413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07. 参考文献示例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999999"/>
                </a:solidFill>
                <a:latin typeface="Noto Sans SC"/>
                <a:ea typeface="Noto Sans SC"/>
                <a:cs typeface="Noto Sans SC"/>
                <a:sym typeface="Noto Sans SC"/>
              </a:rPr>
              <a:t>文献引用与管理规范</a:t>
            </a:r>
          </a:p>
        </p:txBody>
      </p:sp>
      <p:sp>
        <p:nvSpPr>
          <p:cNvPr name="AutoShape 24" id="24"/>
          <p:cNvSpPr/>
          <p:nvPr/>
        </p:nvSpPr>
        <p:spPr>
          <a:xfrm rot="0" flipH="false" flipV="false">
            <a:off x="4381500" y="4572000"/>
            <a:ext cx="3429000" cy="1270000"/>
          </a:xfrm>
          <a:prstGeom prst="roundRect">
            <a:avLst>
              <a:gd name="adj" fmla="val 10000"/>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flipH="false" flipV="false">
            <a:off x="4635500" y="4826000"/>
            <a:ext cx="406400" cy="406400"/>
          </a:xfrm>
          <a:prstGeom prst="rect">
            <a:avLst/>
          </a:prstGeom>
        </p:spPr>
      </p:pic>
      <p:sp>
        <p:nvSpPr>
          <p:cNvPr name="AutoShape 26" id="26"/>
          <p:cNvSpPr/>
          <p:nvPr/>
        </p:nvSpPr>
        <p:spPr>
          <a:xfrm rot="0" flipH="false" flipV="false">
            <a:off x="5143500" y="4762500"/>
            <a:ext cx="2413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08. 算法块示例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999999"/>
                </a:solidFill>
                <a:latin typeface="Noto Sans SC"/>
                <a:ea typeface="Noto Sans SC"/>
                <a:cs typeface="Noto Sans SC"/>
                <a:sym typeface="Noto Sans SC"/>
              </a:rPr>
              <a:t>伪代码与流程图展示</a:t>
            </a:r>
          </a:p>
        </p:txBody>
      </p:sp>
      <p:sp>
        <p:nvSpPr>
          <p:cNvPr name="AutoShape 27" id="27"/>
          <p:cNvSpPr/>
          <p:nvPr/>
        </p:nvSpPr>
        <p:spPr>
          <a:xfrm rot="0" flipH="false" flipV="false">
            <a:off x="8001000" y="4572000"/>
            <a:ext cx="3429000" cy="1270000"/>
          </a:xfrm>
          <a:prstGeom prst="roundRect">
            <a:avLst>
              <a:gd name="adj" fmla="val 10000"/>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0" flipH="false" flipV="false">
            <a:off x="8255000" y="4826000"/>
            <a:ext cx="406400" cy="406400"/>
          </a:xfrm>
          <a:prstGeom prst="rect">
            <a:avLst/>
          </a:prstGeom>
        </p:spPr>
      </p:pic>
      <p:sp>
        <p:nvSpPr>
          <p:cNvPr name="AutoShape 29" id="29"/>
          <p:cNvSpPr/>
          <p:nvPr/>
        </p:nvSpPr>
        <p:spPr>
          <a:xfrm rot="0" flipH="false" flipV="false">
            <a:off x="8763000" y="4762500"/>
            <a:ext cx="2413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09. 列表元素示例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999999"/>
                </a:solidFill>
                <a:latin typeface="Noto Sans SC"/>
                <a:ea typeface="Noto Sans SC"/>
                <a:cs typeface="Noto Sans SC"/>
                <a:sym typeface="Noto Sans SC"/>
              </a:rPr>
              <a:t>有序与无序列表排版</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2F2F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7AFF"/>
                </a:solidFill>
                <a:latin typeface="Noto Sans SC"/>
                <a:ea typeface="Noto Sans SC"/>
                <a:cs typeface="Noto Sans SC"/>
                <a:sym typeface="Noto Sans SC"/>
              </a:rPr>
              <a:t>智能推荐系统介绍</a:t>
            </a:r>
            <a:endParaRPr lang="en-US" sz="1100"/>
          </a:p>
        </p:txBody>
      </p:sp>
      <p:sp>
        <p:nvSpPr>
          <p:cNvPr name="AutoShape 3" id="3"/>
          <p:cNvSpPr/>
          <p:nvPr/>
        </p:nvSpPr>
        <p:spPr>
          <a:xfrm rot="0" flipH="false" flipV="false">
            <a:off x="762000" y="1651000"/>
            <a:ext cx="5207000" cy="2286000"/>
          </a:xfrm>
          <a:prstGeom prst="roundRect">
            <a:avLst>
              <a:gd name="adj" fmla="val 5555"/>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905000"/>
            <a:ext cx="406400" cy="406400"/>
          </a:xfrm>
          <a:prstGeom prst="rect">
            <a:avLst/>
          </a:prstGeom>
        </p:spPr>
      </p:pic>
      <p:sp>
        <p:nvSpPr>
          <p:cNvPr name="AutoShape 5" id="5"/>
          <p:cNvSpPr/>
          <p:nvPr/>
        </p:nvSpPr>
        <p:spPr>
          <a:xfrm rot="0" flipH="false" flipV="false">
            <a:off x="1524000" y="1879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33333"/>
                </a:solidFill>
                <a:latin typeface="Noto Sans SC"/>
                <a:ea typeface="Noto Sans SC"/>
                <a:cs typeface="Noto Sans SC"/>
                <a:sym typeface="Noto Sans SC"/>
              </a:rPr>
              <a:t>核心定义与目标</a:t>
            </a:r>
            <a:endParaRPr lang="en-US" sz="1100"/>
          </a:p>
        </p:txBody>
      </p:sp>
      <p:cxnSp>
        <p:nvCxnSpPr>
          <p:cNvPr name="Connector 6" id="6"/>
          <p:cNvCxnSpPr/>
          <p:nvPr/>
        </p:nvCxnSpPr>
        <p:spPr>
          <a:xfrm rot="-9291" flipH="false" flipV="false">
            <a:off x="1016009" y="2343150"/>
            <a:ext cx="4699000" cy="12700"/>
          </a:xfrm>
          <a:prstGeom prst="line">
            <a:avLst/>
          </a:prstGeom>
          <a:solidFill>
            <a:srgbClr val="DEE0E3">
              <a:alpha val="100000"/>
            </a:srgbClr>
          </a:solidFill>
          <a:ln w="12700" cmpd="sng" cap="flat">
            <a:solidFill>
              <a:srgbClr val="F0F0F0">
                <a:alpha val="100000"/>
              </a:srgbClr>
            </a:solidFill>
            <a:prstDash val="solid"/>
            <a:round/>
            <a:headEnd type="none" w="med" len="med"/>
            <a:tailEnd type="none" w="med" len="med"/>
          </a:ln>
        </p:spPr>
      </p:cxnSp>
      <p:sp>
        <p:nvSpPr>
          <p:cNvPr name="AutoShape 7" id="7"/>
          <p:cNvSpPr/>
          <p:nvPr/>
        </p:nvSpPr>
        <p:spPr>
          <a:xfrm rot="0" flipH="false" flipV="false">
            <a:off x="1016000" y="2476500"/>
            <a:ext cx="4699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66666"/>
                </a:solidFill>
                <a:latin typeface="Noto Sans SC"/>
                <a:ea typeface="Noto Sans SC"/>
                <a:cs typeface="Noto Sans SC"/>
                <a:sym typeface="Noto Sans SC"/>
              </a:rPr>
              <a:t>智能推荐系统是一种信息过滤系统，通过分析用户历史行为、兴趣偏好和上下文信息，利用算法模型提供个性化推荐。其核心目标是解决信息过载，帮助用户高效发现感兴趣的内容。</a:t>
            </a:r>
            <a:endParaRPr lang="en-US" sz="1100"/>
          </a:p>
        </p:txBody>
      </p:sp>
      <p:sp>
        <p:nvSpPr>
          <p:cNvPr name="AutoShape 8" id="8"/>
          <p:cNvSpPr/>
          <p:nvPr/>
        </p:nvSpPr>
        <p:spPr>
          <a:xfrm rot="0" flipH="false" flipV="false">
            <a:off x="6223000" y="1651000"/>
            <a:ext cx="5207000" cy="2286000"/>
          </a:xfrm>
          <a:prstGeom prst="roundRect">
            <a:avLst>
              <a:gd name="adj" fmla="val 5555"/>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77000" y="1905000"/>
            <a:ext cx="406400" cy="406400"/>
          </a:xfrm>
          <a:prstGeom prst="rect">
            <a:avLst/>
          </a:prstGeom>
        </p:spPr>
      </p:pic>
      <p:sp>
        <p:nvSpPr>
          <p:cNvPr name="AutoShape 10" id="10"/>
          <p:cNvSpPr/>
          <p:nvPr/>
        </p:nvSpPr>
        <p:spPr>
          <a:xfrm rot="0" flipH="false" flipV="false">
            <a:off x="6985000" y="1879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33333"/>
                </a:solidFill>
                <a:latin typeface="Noto Sans SC"/>
                <a:ea typeface="Noto Sans SC"/>
                <a:cs typeface="Noto Sans SC"/>
                <a:sym typeface="Noto Sans SC"/>
              </a:rPr>
              <a:t>广泛应用领域</a:t>
            </a:r>
            <a:endParaRPr lang="en-US" sz="1100"/>
          </a:p>
        </p:txBody>
      </p:sp>
      <p:cxnSp>
        <p:nvCxnSpPr>
          <p:cNvPr name="Connector 11" id="11"/>
          <p:cNvCxnSpPr/>
          <p:nvPr/>
        </p:nvCxnSpPr>
        <p:spPr>
          <a:xfrm rot="-9291" flipH="false" flipV="false">
            <a:off x="6477009" y="2343150"/>
            <a:ext cx="4699000" cy="12700"/>
          </a:xfrm>
          <a:prstGeom prst="line">
            <a:avLst/>
          </a:prstGeom>
          <a:solidFill>
            <a:srgbClr val="DEE0E3">
              <a:alpha val="100000"/>
            </a:srgbClr>
          </a:solidFill>
          <a:ln w="12700" cmpd="sng" cap="flat">
            <a:solidFill>
              <a:srgbClr val="F0F0F0">
                <a:alpha val="100000"/>
              </a:srgbClr>
            </a:solidFill>
            <a:prstDash val="solid"/>
            <a:round/>
            <a:headEnd type="none" w="med" len="med"/>
            <a:tailEnd type="none" w="med" len="med"/>
          </a:ln>
        </p:spPr>
      </p:cxnSp>
      <p:sp>
        <p:nvSpPr>
          <p:cNvPr name="AutoShape 12" id="12"/>
          <p:cNvSpPr/>
          <p:nvPr/>
        </p:nvSpPr>
        <p:spPr>
          <a:xfrm rot="0" flipH="false" flipV="false">
            <a:off x="6477000" y="2476500"/>
            <a:ext cx="4699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66666"/>
                </a:solidFill>
                <a:latin typeface="Noto Sans SC"/>
                <a:ea typeface="Noto Sans SC"/>
                <a:cs typeface="Noto Sans SC"/>
                <a:sym typeface="Noto Sans SC"/>
              </a:rPr>
              <a:t>推荐系统已深度融入电商、视频、音乐、新闻等多个行业。它不仅极大地提升了用户的使用体验，更显著增加了平台的商业价值，是现代互联网产品不可或缺的核心功能。</a:t>
            </a:r>
            <a:endParaRPr lang="en-US" sz="1100"/>
          </a:p>
        </p:txBody>
      </p:sp>
      <p:sp>
        <p:nvSpPr>
          <p:cNvPr name="AutoShape 13" id="13"/>
          <p:cNvSpPr/>
          <p:nvPr/>
        </p:nvSpPr>
        <p:spPr>
          <a:xfrm rot="0" flipH="false" flipV="false">
            <a:off x="762000" y="4191000"/>
            <a:ext cx="10668000" cy="2032000"/>
          </a:xfrm>
          <a:prstGeom prst="roundRect">
            <a:avLst>
              <a:gd name="adj" fmla="val 6250"/>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445000"/>
            <a:ext cx="406400" cy="406400"/>
          </a:xfrm>
          <a:prstGeom prst="rect">
            <a:avLst/>
          </a:prstGeom>
        </p:spPr>
      </p:pic>
      <p:sp>
        <p:nvSpPr>
          <p:cNvPr name="AutoShape 15" id="15"/>
          <p:cNvSpPr/>
          <p:nvPr/>
        </p:nvSpPr>
        <p:spPr>
          <a:xfrm rot="0" flipH="false" flipV="false">
            <a:off x="1524000" y="4419600"/>
            <a:ext cx="889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33333"/>
                </a:solidFill>
                <a:latin typeface="Noto Sans SC"/>
                <a:ea typeface="Noto Sans SC"/>
                <a:cs typeface="Noto Sans SC"/>
                <a:sym typeface="Noto Sans SC"/>
              </a:rPr>
              <a:t>系统关键环节流程</a:t>
            </a:r>
            <a:endParaRPr lang="en-US" sz="1100"/>
          </a:p>
        </p:txBody>
      </p:sp>
      <p:cxnSp>
        <p:nvCxnSpPr>
          <p:cNvPr name="Connector 16" id="16"/>
          <p:cNvCxnSpPr/>
          <p:nvPr/>
        </p:nvCxnSpPr>
        <p:spPr>
          <a:xfrm rot="-4297" flipH="false" flipV="false">
            <a:off x="1016004" y="4883150"/>
            <a:ext cx="10160000" cy="12700"/>
          </a:xfrm>
          <a:prstGeom prst="line">
            <a:avLst/>
          </a:prstGeom>
          <a:solidFill>
            <a:srgbClr val="DEE0E3">
              <a:alpha val="100000"/>
            </a:srgbClr>
          </a:solidFill>
          <a:ln w="12700" cmpd="sng" cap="flat">
            <a:solidFill>
              <a:srgbClr val="F0F0F0">
                <a:alpha val="100000"/>
              </a:srgbClr>
            </a:solidFill>
            <a:prstDash val="solid"/>
            <a:round/>
            <a:headEnd type="none" w="med" len="med"/>
            <a:tailEnd type="none" w="med" len="med"/>
          </a:ln>
        </p:spPr>
      </p:cxnSp>
      <p:sp>
        <p:nvSpPr>
          <p:cNvPr name="AutoShape 17" id="17"/>
          <p:cNvSpPr/>
          <p:nvPr/>
        </p:nvSpPr>
        <p:spPr>
          <a:xfrm rot="0" flipH="false" flipV="false">
            <a:off x="1016000" y="5080000"/>
            <a:ext cx="1778000" cy="762000"/>
          </a:xfrm>
          <a:prstGeom prst="roundRect">
            <a:avLst>
              <a:gd name="adj" fmla="val 8333"/>
            </a:avLst>
          </a:prstGeom>
          <a:solidFill>
            <a:srgbClr val="007AFF">
              <a:alpha val="1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007AFF"/>
                </a:solidFill>
                <a:latin typeface="Noto Sans SC"/>
                <a:ea typeface="Noto Sans SC"/>
                <a:cs typeface="Noto Sans SC"/>
                <a:sym typeface="Noto Sans SC"/>
              </a:rPr>
              <a:t>数据收集</a:t>
            </a:r>
            <a:endParaRPr lang="en-US" sz="1100"/>
          </a:p>
        </p:txBody>
      </p:sp>
      <p:pic>
        <p:nvPicPr>
          <p:cNvPr name="Picture 18" id="18"/>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2857500" y="5270500"/>
            <a:ext cx="254000" cy="254000"/>
          </a:xfrm>
          <a:prstGeom prst="rect">
            <a:avLst/>
          </a:prstGeom>
        </p:spPr>
      </p:pic>
      <p:sp>
        <p:nvSpPr>
          <p:cNvPr name="AutoShape 19" id="19"/>
          <p:cNvSpPr/>
          <p:nvPr/>
        </p:nvSpPr>
        <p:spPr>
          <a:xfrm rot="0" flipH="false" flipV="false">
            <a:off x="3175000" y="5080000"/>
            <a:ext cx="1778000" cy="762000"/>
          </a:xfrm>
          <a:prstGeom prst="roundRect">
            <a:avLst>
              <a:gd name="adj" fmla="val 8333"/>
            </a:avLst>
          </a:prstGeom>
          <a:solidFill>
            <a:srgbClr val="007AFF">
              <a:alpha val="1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007AFF"/>
                </a:solidFill>
                <a:latin typeface="Noto Sans SC"/>
                <a:ea typeface="Noto Sans SC"/>
                <a:cs typeface="Noto Sans SC"/>
                <a:sym typeface="Noto Sans SC"/>
              </a:rPr>
              <a:t>用户建模</a:t>
            </a:r>
            <a:endParaRPr lang="en-US" sz="1100"/>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5016500" y="5270500"/>
            <a:ext cx="254000" cy="254000"/>
          </a:xfrm>
          <a:prstGeom prst="rect">
            <a:avLst/>
          </a:prstGeom>
        </p:spPr>
      </p:pic>
      <p:sp>
        <p:nvSpPr>
          <p:cNvPr name="AutoShape 21" id="21"/>
          <p:cNvSpPr/>
          <p:nvPr/>
        </p:nvSpPr>
        <p:spPr>
          <a:xfrm rot="0" flipH="false" flipV="false">
            <a:off x="5334000" y="5080000"/>
            <a:ext cx="1778000" cy="762000"/>
          </a:xfrm>
          <a:prstGeom prst="roundRect">
            <a:avLst>
              <a:gd name="adj" fmla="val 8333"/>
            </a:avLst>
          </a:prstGeom>
          <a:solidFill>
            <a:srgbClr val="007AFF">
              <a:alpha val="1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007AFF"/>
                </a:solidFill>
                <a:latin typeface="Noto Sans SC"/>
                <a:ea typeface="Noto Sans SC"/>
                <a:cs typeface="Noto Sans SC"/>
                <a:sym typeface="Noto Sans SC"/>
              </a:rPr>
              <a:t>物品建模</a:t>
            </a:r>
            <a:endParaRPr lang="en-US" sz="1100"/>
          </a:p>
        </p:txBody>
      </p:sp>
      <p:pic>
        <p:nvPicPr>
          <p:cNvPr name="Picture 22" id="22"/>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7175500" y="5270500"/>
            <a:ext cx="254000" cy="254000"/>
          </a:xfrm>
          <a:prstGeom prst="rect">
            <a:avLst/>
          </a:prstGeom>
        </p:spPr>
      </p:pic>
      <p:sp>
        <p:nvSpPr>
          <p:cNvPr name="AutoShape 23" id="23"/>
          <p:cNvSpPr/>
          <p:nvPr/>
        </p:nvSpPr>
        <p:spPr>
          <a:xfrm rot="0" flipH="false" flipV="false">
            <a:off x="7493000" y="5080000"/>
            <a:ext cx="1778000" cy="762000"/>
          </a:xfrm>
          <a:prstGeom prst="roundRect">
            <a:avLst>
              <a:gd name="adj" fmla="val 8333"/>
            </a:avLst>
          </a:prstGeom>
          <a:solidFill>
            <a:srgbClr val="007AFF">
              <a:alpha val="1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007AFF"/>
                </a:solidFill>
                <a:latin typeface="Noto Sans SC"/>
                <a:ea typeface="Noto Sans SC"/>
                <a:cs typeface="Noto Sans SC"/>
                <a:sym typeface="Noto Sans SC"/>
              </a:rPr>
              <a:t>算法计算</a:t>
            </a:r>
            <a:endParaRPr lang="en-US" sz="1100"/>
          </a:p>
        </p:txBody>
      </p:sp>
      <p:pic>
        <p:nvPicPr>
          <p:cNvPr name="Picture 24" id="2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334500" y="5270500"/>
            <a:ext cx="254000" cy="254000"/>
          </a:xfrm>
          <a:prstGeom prst="rect">
            <a:avLst/>
          </a:prstGeom>
        </p:spPr>
      </p:pic>
      <p:sp>
        <p:nvSpPr>
          <p:cNvPr name="AutoShape 25" id="25"/>
          <p:cNvSpPr/>
          <p:nvPr/>
        </p:nvSpPr>
        <p:spPr>
          <a:xfrm rot="0" flipH="false" flipV="false">
            <a:off x="9652000" y="5080000"/>
            <a:ext cx="1524000" cy="762000"/>
          </a:xfrm>
          <a:prstGeom prst="roundRect">
            <a:avLst>
              <a:gd name="adj" fmla="val 8333"/>
            </a:avLst>
          </a:prstGeom>
          <a:solidFill>
            <a:srgbClr val="007AFF">
              <a:alpha val="1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007AFF"/>
                </a:solidFill>
                <a:latin typeface="Noto Sans SC"/>
                <a:ea typeface="Noto Sans SC"/>
                <a:cs typeface="Noto Sans SC"/>
                <a:sym typeface="Noto Sans SC"/>
              </a:rPr>
              <a:t>结果展示</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2F2F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7AFF"/>
                </a:solidFill>
                <a:latin typeface="Noto Sans SC"/>
                <a:ea typeface="Noto Sans SC"/>
                <a:cs typeface="Noto Sans SC"/>
                <a:sym typeface="Noto Sans SC"/>
              </a:rPr>
              <a:t>数学公式示例</a:t>
            </a:r>
            <a:endParaRPr lang="en-US" sz="1100"/>
          </a:p>
        </p:txBody>
      </p:sp>
      <p:sp>
        <p:nvSpPr>
          <p:cNvPr name="AutoShape 3" id="3"/>
          <p:cNvSpPr/>
          <p:nvPr/>
        </p:nvSpPr>
        <p:spPr>
          <a:xfrm rot="0" flipH="false" flipV="false">
            <a:off x="1651000" y="1651000"/>
            <a:ext cx="8890000" cy="2540000"/>
          </a:xfrm>
          <a:prstGeom prst="roundRect">
            <a:avLst>
              <a:gd name="adj" fmla="val 5000"/>
            </a:avLst>
          </a:prstGeom>
          <a:solidFill>
            <a:srgbClr val="FFFFFF">
              <a:alpha val="100000"/>
            </a:srgbClr>
          </a:solidFill>
          <a:ln w="25400" cmpd="sng" cap="flat">
            <a:noFill/>
            <a:prstDash val="solid"/>
            <a:round/>
          </a:ln>
          <a:effectLst>
            <a:outerShdw dir="5400000" dist="127000" blurRad="254000" algn="tl" rotWithShape="false">
              <a:srgbClr val="007AFF">
                <a:alpha val="15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905000" y="2032000"/>
            <a:ext cx="8382000" cy="177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800">
                <a:solidFill>
                  <a:srgbClr val="333333"/>
                </a:solidFill>
                <a:latin typeface="Noto Sans SC"/>
                <a:ea typeface="Noto Sans SC"/>
                <a:cs typeface="Noto Sans SC"/>
                <a:sym typeface="Noto Sans SC"/>
              </a:rPr>
              <a:t>均方误差 (MSE) 损失函数</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spcBef>
                <a:spcPts val="2000"/>
              </a:spcBef>
            </a:pPr>
            <a:r>
              <a:rPr lang="en-US" b="false" i="false" strike="noStrike" u="none" sz="2400">
                <a:solidFill>
                  <a:srgbClr val="007AFF"/>
                </a:solidFill>
                <a:latin typeface="Noto Sans SC"/>
                <a:ea typeface="Noto Sans SC"/>
                <a:cs typeface="Noto Sans SC"/>
                <a:sym typeface="Noto Sans SC"/>
              </a:rPr>
              <a:t>MSE = (1/n) ∑ (yᵢ - ŷᵢ)²</a:t>
            </a:r>
          </a:p>
        </p:txBody>
      </p:sp>
      <p:sp>
        <p:nvSpPr>
          <p:cNvPr name="AutoShape 5" id="5"/>
          <p:cNvSpPr/>
          <p:nvPr/>
        </p:nvSpPr>
        <p:spPr>
          <a:xfrm rot="0" flipH="false" flipV="false">
            <a:off x="1651000" y="4445000"/>
            <a:ext cx="2794000" cy="1524000"/>
          </a:xfrm>
          <a:prstGeom prst="roundRect">
            <a:avLst>
              <a:gd name="adj" fmla="val 8333"/>
            </a:avLst>
          </a:prstGeom>
          <a:solidFill>
            <a:srgbClr val="FFFFFF">
              <a:alpha val="100000"/>
            </a:srgbClr>
          </a:solidFill>
          <a:ln w="25400" cmpd="sng" cap="flat">
            <a:noFill/>
            <a:prstDash val="solid"/>
            <a:round/>
          </a:ln>
          <a:effectLst>
            <a:outerShdw dir="5400000" dist="635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905000" y="4635500"/>
            <a:ext cx="406400" cy="406400"/>
          </a:xfrm>
          <a:prstGeom prst="rect">
            <a:avLst/>
          </a:prstGeom>
        </p:spPr>
      </p:pic>
      <p:sp>
        <p:nvSpPr>
          <p:cNvPr name="AutoShape 7" id="7"/>
          <p:cNvSpPr/>
          <p:nvPr/>
        </p:nvSpPr>
        <p:spPr>
          <a:xfrm rot="0" flipH="false" flipV="false">
            <a:off x="2413000" y="4635500"/>
            <a:ext cx="1778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真实值 (yᵢ)</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66666"/>
                </a:solidFill>
                <a:latin typeface="Noto Sans SC"/>
                <a:ea typeface="Noto Sans SC"/>
                <a:cs typeface="Noto Sans SC"/>
                <a:sym typeface="Noto Sans SC"/>
              </a:rPr>
              <a:t>数据集中的实际观测值，是模型拟合的目标。</a:t>
            </a:r>
          </a:p>
        </p:txBody>
      </p:sp>
      <p:sp>
        <p:nvSpPr>
          <p:cNvPr name="AutoShape 8" id="8"/>
          <p:cNvSpPr/>
          <p:nvPr/>
        </p:nvSpPr>
        <p:spPr>
          <a:xfrm rot="0" flipH="false" flipV="false">
            <a:off x="4699000" y="4445000"/>
            <a:ext cx="2794000" cy="1524000"/>
          </a:xfrm>
          <a:prstGeom prst="roundRect">
            <a:avLst>
              <a:gd name="adj" fmla="val 8333"/>
            </a:avLst>
          </a:prstGeom>
          <a:solidFill>
            <a:srgbClr val="FFFFFF">
              <a:alpha val="100000"/>
            </a:srgbClr>
          </a:solidFill>
          <a:ln w="25400" cmpd="sng" cap="flat">
            <a:noFill/>
            <a:prstDash val="solid"/>
            <a:round/>
          </a:ln>
          <a:effectLst>
            <a:outerShdw dir="5400000" dist="635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953000" y="4635500"/>
            <a:ext cx="406400" cy="406400"/>
          </a:xfrm>
          <a:prstGeom prst="rect">
            <a:avLst/>
          </a:prstGeom>
        </p:spPr>
      </p:pic>
      <p:sp>
        <p:nvSpPr>
          <p:cNvPr name="AutoShape 10" id="10"/>
          <p:cNvSpPr/>
          <p:nvPr/>
        </p:nvSpPr>
        <p:spPr>
          <a:xfrm rot="0" flipH="false" flipV="false">
            <a:off x="5461000" y="4635500"/>
            <a:ext cx="1778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预测值 (ŷᵢ)</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66666"/>
                </a:solidFill>
                <a:latin typeface="Noto Sans SC"/>
                <a:ea typeface="Noto Sans SC"/>
                <a:cs typeface="Noto Sans SC"/>
                <a:sym typeface="Noto Sans SC"/>
              </a:rPr>
              <a:t>由模型根据输入特征计算得出的估计值。</a:t>
            </a:r>
          </a:p>
        </p:txBody>
      </p:sp>
      <p:sp>
        <p:nvSpPr>
          <p:cNvPr name="AutoShape 11" id="11"/>
          <p:cNvSpPr/>
          <p:nvPr/>
        </p:nvSpPr>
        <p:spPr>
          <a:xfrm rot="0" flipH="false" flipV="false">
            <a:off x="7747000" y="4445000"/>
            <a:ext cx="2794000" cy="1524000"/>
          </a:xfrm>
          <a:prstGeom prst="roundRect">
            <a:avLst>
              <a:gd name="adj" fmla="val 8333"/>
            </a:avLst>
          </a:prstGeom>
          <a:solidFill>
            <a:srgbClr val="FFFFFF">
              <a:alpha val="100000"/>
            </a:srgbClr>
          </a:solidFill>
          <a:ln w="25400" cmpd="sng" cap="flat">
            <a:noFill/>
            <a:prstDash val="solid"/>
            <a:round/>
          </a:ln>
          <a:effectLst>
            <a:outerShdw dir="5400000" dist="635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001000" y="4635500"/>
            <a:ext cx="406400" cy="406400"/>
          </a:xfrm>
          <a:prstGeom prst="rect">
            <a:avLst/>
          </a:prstGeom>
        </p:spPr>
      </p:pic>
      <p:sp>
        <p:nvSpPr>
          <p:cNvPr name="AutoShape 13" id="13"/>
          <p:cNvSpPr/>
          <p:nvPr/>
        </p:nvSpPr>
        <p:spPr>
          <a:xfrm rot="0" flipH="false" flipV="false">
            <a:off x="8509000" y="4635500"/>
            <a:ext cx="1778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样本数量 (n)</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66666"/>
                </a:solidFill>
                <a:latin typeface="Noto Sans SC"/>
                <a:ea typeface="Noto Sans SC"/>
                <a:cs typeface="Noto Sans SC"/>
                <a:sym typeface="Noto Sans SC"/>
              </a:rPr>
              <a:t>参与计算的样本总数，用于求平均值。</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2F2F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7AFF"/>
                </a:solidFill>
                <a:latin typeface="Noto Sans SC"/>
                <a:ea typeface="Noto Sans SC"/>
                <a:cs typeface="Noto Sans SC"/>
                <a:sym typeface="Noto Sans SC"/>
              </a:rPr>
              <a:t>图片元素示例</a:t>
            </a:r>
            <a:endParaRPr lang="en-US" sz="1100"/>
          </a:p>
        </p:txBody>
      </p:sp>
      <p:sp>
        <p:nvSpPr>
          <p:cNvPr name="AutoShape 3" id="3"/>
          <p:cNvSpPr/>
          <p:nvPr/>
        </p:nvSpPr>
        <p:spPr>
          <a:xfrm rot="0" flipH="false" flipV="false">
            <a:off x="762000" y="1524000"/>
            <a:ext cx="10668000" cy="3302000"/>
          </a:xfrm>
          <a:prstGeom prst="roundRect">
            <a:avLst>
              <a:gd name="adj" fmla="val 3846"/>
            </a:avLst>
          </a:prstGeom>
          <a:solidFill>
            <a:srgbClr val="FFFFFF">
              <a:alpha val="100000"/>
            </a:srgbClr>
          </a:solidFill>
          <a:ln w="25400" cmpd="sng" cap="flat">
            <a:noFill/>
            <a:prstDash val="solid"/>
            <a:round/>
          </a:ln>
          <a:effectLst>
            <a:outerShdw dir="5400000" dist="50800" blurRad="127000" algn="tl" rotWithShape="false">
              <a:srgbClr val="000000">
                <a:alpha val="8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srcRect l="0" r="0" t="25555" b="25555"/>
          <a:stretch>
            <a:fillRect/>
          </a:stretch>
        </p:blipFill>
        <p:spPr>
          <a:xfrm rot="0" flipH="false" flipV="false">
            <a:off x="1016000" y="1778000"/>
            <a:ext cx="10160000" cy="2794000"/>
          </a:xfrm>
          <a:prstGeom prst="rect">
            <a:avLst/>
          </a:prstGeom>
          <a:noFill/>
          <a:ln w="25400" cmpd="sng" cap="flat">
            <a:noFill/>
            <a:prstDash val="solid"/>
            <a:round/>
          </a:ln>
        </p:spPr>
      </p:pic>
      <p:sp>
        <p:nvSpPr>
          <p:cNvPr name="AutoShape 5" id="5"/>
          <p:cNvSpPr/>
          <p:nvPr/>
        </p:nvSpPr>
        <p:spPr>
          <a:xfrm rot="0" flipH="false" flipV="false">
            <a:off x="762000" y="5016500"/>
            <a:ext cx="10668000" cy="1270000"/>
          </a:xfrm>
          <a:prstGeom prst="roundRect">
            <a:avLst>
              <a:gd name="adj" fmla="val 10000"/>
            </a:avLst>
          </a:prstGeom>
          <a:solidFill>
            <a:srgbClr val="FFFFFF">
              <a:alpha val="100000"/>
            </a:srgbClr>
          </a:solidFill>
          <a:ln w="25400" cmpd="sng" cap="flat">
            <a:noFill/>
            <a:prstDash val="solid"/>
            <a:round/>
          </a:ln>
          <a:effectLst>
            <a:outerShdw dir="5400000" dist="50800" blurRad="127000" algn="tl" rotWithShape="false">
              <a:srgbClr val="000000">
                <a:alpha val="8000"/>
              </a:srgbClr>
            </a:outerShdw>
          </a:effectLst>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5207000"/>
            <a:ext cx="304800" cy="304800"/>
          </a:xfrm>
          <a:prstGeom prst="rect">
            <a:avLst/>
          </a:prstGeom>
        </p:spPr>
      </p:pic>
      <p:sp>
        <p:nvSpPr>
          <p:cNvPr name="AutoShape 7" id="7"/>
          <p:cNvSpPr/>
          <p:nvPr/>
        </p:nvSpPr>
        <p:spPr>
          <a:xfrm rot="0" flipH="false" flipV="false">
            <a:off x="1397000" y="5181600"/>
            <a:ext cx="9779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图片描述</a:t>
            </a:r>
            <a:endParaRPr lang="en-US" sz="1100"/>
          </a:p>
        </p:txBody>
      </p:sp>
      <p:sp>
        <p:nvSpPr>
          <p:cNvPr name="AutoShape 8" id="8"/>
          <p:cNvSpPr/>
          <p:nvPr/>
        </p:nvSpPr>
        <p:spPr>
          <a:xfrm rot="0" flipH="false" flipV="false">
            <a:off x="1016000" y="5562600"/>
            <a:ext cx="10160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66666"/>
                </a:solidFill>
                <a:latin typeface="Noto Sans SC"/>
                <a:ea typeface="Noto Sans SC"/>
                <a:cs typeface="Noto Sans SC"/>
                <a:sym typeface="Noto Sans SC"/>
              </a:rPr>
              <a:t>用户行为流程图展示了用户、物品和推荐系统之间的交互关系。用户通过浏览、点击、购买等行为产生数据，推荐系统基于这些数据进行分析并生成推荐结果，最终反馈给用户，形成一个闭环。</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2F2F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7AFF"/>
                </a:solidFill>
                <a:latin typeface="Noto Sans SC"/>
                <a:ea typeface="Noto Sans SC"/>
                <a:cs typeface="Noto Sans SC"/>
                <a:sym typeface="Noto Sans SC"/>
              </a:rPr>
              <a:t>表格元素示例</a:t>
            </a:r>
            <a:endParaRPr lang="en-US" sz="1100"/>
          </a:p>
        </p:txBody>
      </p:sp>
      <p:sp>
        <p:nvSpPr>
          <p:cNvPr name="AutoShape 3" id="3"/>
          <p:cNvSpPr/>
          <p:nvPr/>
        </p:nvSpPr>
        <p:spPr>
          <a:xfrm rot="0" flipH="false" flipV="false">
            <a:off x="762000" y="1651000"/>
            <a:ext cx="10668000" cy="4064000"/>
          </a:xfrm>
          <a:prstGeom prst="roundRect">
            <a:avLst>
              <a:gd name="adj" fmla="val 3125"/>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905000"/>
            <a:ext cx="304800" cy="304800"/>
          </a:xfrm>
          <a:prstGeom prst="rect">
            <a:avLst/>
          </a:prstGeom>
        </p:spPr>
      </p:pic>
      <p:sp>
        <p:nvSpPr>
          <p:cNvPr name="AutoShape 5" id="5"/>
          <p:cNvSpPr/>
          <p:nvPr/>
        </p:nvSpPr>
        <p:spPr>
          <a:xfrm rot="0" flipH="false" flipV="false">
            <a:off x="1397000" y="1879600"/>
            <a:ext cx="762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33333"/>
                </a:solidFill>
                <a:latin typeface="Noto Sans SC"/>
                <a:ea typeface="Noto Sans SC"/>
                <a:cs typeface="Noto Sans SC"/>
                <a:sym typeface="Noto Sans SC"/>
              </a:rPr>
              <a:t>用户-物品评分矩阵数据展示</a:t>
            </a:r>
            <a:endParaRPr lang="en-US" sz="1100"/>
          </a:p>
        </p:txBody>
      </p:sp>
      <p:graphicFrame>
        <p:nvGraphicFramePr>
          <p:cNvPr name="Table 6" id="6"/>
          <p:cNvGraphicFramePr>
            <a:graphicFrameLocks noGrp="true"/>
          </p:cNvGraphicFramePr>
          <p:nvPr/>
        </p:nvGraphicFramePr>
        <p:xfrm>
          <a:off x="1016000" y="2413000"/>
          <a:ext cx="9906000" cy="2286000"/>
        </p:xfrm>
        <a:graphic>
          <a:graphicData uri="http://schemas.openxmlformats.org/drawingml/2006/table">
            <a:tbl>
              <a:tblPr>
                <a:effectLst/>
              </a:tblPr>
              <a:tblGrid>
                <a:gridCol w="1778000"/>
                <a:gridCol w="2032000"/>
                <a:gridCol w="2032000"/>
                <a:gridCol w="2032000"/>
                <a:gridCol w="2032000"/>
              </a:tblGrid>
              <a:tr h="508000">
                <a:tc>
                  <a:txBody>
                    <a:bodyPr anchor="t" rtlCol="false"/>
                    <a:lstStyle/>
                    <a:p>
                      <a:pPr algn="ctr" indent="0">
                        <a:lnSpc>
                          <a:spcPct val="100000"/>
                        </a:lnSpc>
                        <a:defRPr/>
                      </a:pPr>
                      <a:r>
                        <a:rPr lang="en-US" b="true" i="false" strike="noStrike" u="none" sz="1400">
                          <a:solidFill>
                            <a:srgbClr val="007AFF"/>
                          </a:solidFill>
                          <a:latin typeface="Noto Sans SC"/>
                          <a:ea typeface="Noto Sans SC"/>
                          <a:cs typeface="Noto Sans SC"/>
                          <a:sym typeface="Noto Sans SC"/>
                        </a:rPr>
                        <a:t>用户ID</a:t>
                      </a:r>
                      <a:endParaRPr lang="en-US" sz="1100"/>
                    </a:p>
                  </a:txBody>
                  <a:tcPr anchor="ctr" anchorCtr="false" marL="101600" marR="101600" marT="101600" marB="101600">
                    <a:lnL>
                      <a:noFill/>
                    </a:lnL>
                    <a:lnR>
                      <a:noFill/>
                    </a:lnR>
                    <a:lnT>
                      <a:noFill/>
                    </a:lnT>
                    <a:lnB>
                      <a:noFill/>
                    </a:lnB>
                    <a:solidFill>
                      <a:srgbClr val="007AFF">
                        <a:alpha val="10000"/>
                      </a:srgbClr>
                    </a:solidFill>
                  </a:tcPr>
                </a:tc>
                <a:tc>
                  <a:txBody>
                    <a:bodyPr anchor="t" rtlCol="false"/>
                    <a:lstStyle/>
                    <a:p>
                      <a:pPr algn="ctr" indent="0">
                        <a:lnSpc>
                          <a:spcPct val="100000"/>
                        </a:lnSpc>
                        <a:defRPr/>
                      </a:pPr>
                      <a:r>
                        <a:rPr lang="en-US" b="true" i="false" strike="noStrike" u="none" sz="1400">
                          <a:solidFill>
                            <a:srgbClr val="007AFF"/>
                          </a:solidFill>
                          <a:latin typeface="Noto Sans SC"/>
                          <a:ea typeface="Noto Sans SC"/>
                          <a:cs typeface="Noto Sans SC"/>
                          <a:sym typeface="Noto Sans SC"/>
                        </a:rPr>
                        <a:t>物品A</a:t>
                      </a:r>
                      <a:endParaRPr lang="en-US" sz="1100"/>
                    </a:p>
                  </a:txBody>
                  <a:tcPr anchor="ctr" anchorCtr="false" marL="101600" marR="101600" marT="101600" marB="101600">
                    <a:lnL>
                      <a:noFill/>
                    </a:lnL>
                    <a:lnR>
                      <a:noFill/>
                    </a:lnR>
                    <a:lnT>
                      <a:noFill/>
                    </a:lnT>
                    <a:lnB>
                      <a:noFill/>
                    </a:lnB>
                    <a:solidFill>
                      <a:srgbClr val="007AFF">
                        <a:alpha val="10000"/>
                      </a:srgbClr>
                    </a:solidFill>
                  </a:tcPr>
                </a:tc>
                <a:tc>
                  <a:txBody>
                    <a:bodyPr anchor="t" rtlCol="false"/>
                    <a:lstStyle/>
                    <a:p>
                      <a:pPr algn="ctr" indent="0">
                        <a:lnSpc>
                          <a:spcPct val="100000"/>
                        </a:lnSpc>
                        <a:defRPr/>
                      </a:pPr>
                      <a:r>
                        <a:rPr lang="en-US" b="true" i="false" strike="noStrike" u="none" sz="1400">
                          <a:solidFill>
                            <a:srgbClr val="007AFF"/>
                          </a:solidFill>
                          <a:latin typeface="Noto Sans SC"/>
                          <a:ea typeface="Noto Sans SC"/>
                          <a:cs typeface="Noto Sans SC"/>
                          <a:sym typeface="Noto Sans SC"/>
                        </a:rPr>
                        <a:t>物品B</a:t>
                      </a:r>
                      <a:endParaRPr lang="en-US" sz="1100"/>
                    </a:p>
                  </a:txBody>
                  <a:tcPr anchor="ctr" anchorCtr="false" marL="101600" marR="101600" marT="101600" marB="101600">
                    <a:lnL>
                      <a:noFill/>
                    </a:lnL>
                    <a:lnR>
                      <a:noFill/>
                    </a:lnR>
                    <a:lnT>
                      <a:noFill/>
                    </a:lnT>
                    <a:lnB>
                      <a:noFill/>
                    </a:lnB>
                    <a:solidFill>
                      <a:srgbClr val="007AFF">
                        <a:alpha val="10000"/>
                      </a:srgbClr>
                    </a:solidFill>
                  </a:tcPr>
                </a:tc>
                <a:tc>
                  <a:txBody>
                    <a:bodyPr anchor="t" rtlCol="false"/>
                    <a:lstStyle/>
                    <a:p>
                      <a:pPr algn="ctr" indent="0">
                        <a:lnSpc>
                          <a:spcPct val="100000"/>
                        </a:lnSpc>
                        <a:defRPr/>
                      </a:pPr>
                      <a:r>
                        <a:rPr lang="en-US" b="true" i="false" strike="noStrike" u="none" sz="1400">
                          <a:solidFill>
                            <a:srgbClr val="007AFF"/>
                          </a:solidFill>
                          <a:latin typeface="Noto Sans SC"/>
                          <a:ea typeface="Noto Sans SC"/>
                          <a:cs typeface="Noto Sans SC"/>
                          <a:sym typeface="Noto Sans SC"/>
                        </a:rPr>
                        <a:t>物品C</a:t>
                      </a:r>
                      <a:endParaRPr lang="en-US" sz="1100"/>
                    </a:p>
                  </a:txBody>
                  <a:tcPr anchor="ctr" anchorCtr="false" marL="101600" marR="101600" marT="101600" marB="101600">
                    <a:lnL>
                      <a:noFill/>
                    </a:lnL>
                    <a:lnR>
                      <a:noFill/>
                    </a:lnR>
                    <a:lnT>
                      <a:noFill/>
                    </a:lnT>
                    <a:lnB>
                      <a:noFill/>
                    </a:lnB>
                    <a:solidFill>
                      <a:srgbClr val="007AFF">
                        <a:alpha val="10000"/>
                      </a:srgbClr>
                    </a:solidFill>
                  </a:tcPr>
                </a:tc>
                <a:tc>
                  <a:txBody>
                    <a:bodyPr anchor="t" rtlCol="false"/>
                    <a:lstStyle/>
                    <a:p>
                      <a:pPr algn="ctr" indent="0">
                        <a:lnSpc>
                          <a:spcPct val="100000"/>
                        </a:lnSpc>
                        <a:defRPr/>
                      </a:pPr>
                      <a:r>
                        <a:rPr lang="en-US" b="true" i="false" strike="noStrike" u="none" sz="1400">
                          <a:solidFill>
                            <a:srgbClr val="007AFF"/>
                          </a:solidFill>
                          <a:latin typeface="Noto Sans SC"/>
                          <a:ea typeface="Noto Sans SC"/>
                          <a:cs typeface="Noto Sans SC"/>
                          <a:sym typeface="Noto Sans SC"/>
                        </a:rPr>
                        <a:t>物品D</a:t>
                      </a:r>
                      <a:endParaRPr lang="en-US" sz="1100"/>
                    </a:p>
                  </a:txBody>
                  <a:tcPr anchor="ctr" anchorCtr="false" marL="101600" marR="101600" marT="101600" marB="101600">
                    <a:lnL>
                      <a:noFill/>
                    </a:lnL>
                    <a:lnR>
                      <a:noFill/>
                    </a:lnR>
                    <a:lnT>
                      <a:noFill/>
                    </a:lnT>
                    <a:lnB>
                      <a:noFill/>
                    </a:lnB>
                    <a:solidFill>
                      <a:srgbClr val="007AFF">
                        <a:alpha val="10000"/>
                      </a:srgbClr>
                    </a:solidFill>
                  </a:tcPr>
                </a:tc>
              </a:tr>
              <a:tr h="444500">
                <a:tc>
                  <a:txBody>
                    <a:bodyPr anchor="t" rtlCol="false"/>
                    <a:lstStyle/>
                    <a:p>
                      <a:pPr algn="ctr" indent="0">
                        <a:lnSpc>
                          <a:spcPct val="100000"/>
                        </a:lnSpc>
                        <a:defRPr/>
                      </a:pPr>
                      <a:r>
                        <a:rPr lang="en-US" b="false" i="false" strike="noStrike" u="none" sz="1400">
                          <a:solidFill>
                            <a:srgbClr val="333333"/>
                          </a:solidFill>
                          <a:latin typeface="Noto Sans SC"/>
                          <a:ea typeface="Noto Sans SC"/>
                          <a:cs typeface="Noto Sans SC"/>
                          <a:sym typeface="Noto Sans SC"/>
                        </a:rPr>
                        <a:t>用户1</a:t>
                      </a:r>
                      <a:endParaRPr lang="en-US" sz="1100"/>
                    </a:p>
                  </a:txBody>
                  <a:tcPr anchor="ctr" anchorCtr="false" marL="101600" marR="101600" marT="101600" marB="101600">
                    <a:lnL>
                      <a:noFill/>
                    </a:lnL>
                    <a:lnR>
                      <a:noFill/>
                    </a:lnR>
                    <a:lnT>
                      <a:noFill/>
                    </a:lnT>
                    <a:lnB cmpd="sng" algn="ctr" cap="flat" w="12700">
                      <a:solidFill>
                        <a:srgbClr val="F2F2F7"/>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333333"/>
                          </a:solidFill>
                          <a:latin typeface="Noto Sans SC"/>
                          <a:ea typeface="Noto Sans SC"/>
                          <a:cs typeface="Noto Sans SC"/>
                          <a:sym typeface="Noto Sans SC"/>
                        </a:rPr>
                        <a:t>5</a:t>
                      </a:r>
                      <a:endParaRPr lang="en-US" sz="1100"/>
                    </a:p>
                  </a:txBody>
                  <a:tcPr anchor="ctr" anchorCtr="false" marL="101600" marR="101600" marT="101600" marB="101600">
                    <a:lnL>
                      <a:noFill/>
                    </a:lnL>
                    <a:lnR>
                      <a:noFill/>
                    </a:lnR>
                    <a:lnT>
                      <a:noFill/>
                    </a:lnT>
                    <a:lnB cmpd="sng" algn="ctr" cap="flat" w="12700">
                      <a:solidFill>
                        <a:srgbClr val="F2F2F7"/>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333333"/>
                          </a:solidFill>
                          <a:latin typeface="Noto Sans SC"/>
                          <a:ea typeface="Noto Sans SC"/>
                          <a:cs typeface="Noto Sans SC"/>
                          <a:sym typeface="Noto Sans SC"/>
                        </a:rPr>
                        <a:t>3</a:t>
                      </a:r>
                      <a:endParaRPr lang="en-US" sz="1100"/>
                    </a:p>
                  </a:txBody>
                  <a:tcPr anchor="ctr" anchorCtr="false" marL="101600" marR="101600" marT="101600" marB="101600">
                    <a:lnL>
                      <a:noFill/>
                    </a:lnL>
                    <a:lnR>
                      <a:noFill/>
                    </a:lnR>
                    <a:lnT>
                      <a:noFill/>
                    </a:lnT>
                    <a:lnB cmpd="sng" algn="ctr" cap="flat" w="12700">
                      <a:solidFill>
                        <a:srgbClr val="F2F2F7"/>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999999"/>
                          </a:solidFill>
                          <a:latin typeface="Noto Sans SC"/>
                          <a:ea typeface="Noto Sans SC"/>
                          <a:cs typeface="Noto Sans SC"/>
                          <a:sym typeface="Noto Sans SC"/>
                        </a:rPr>
                        <a:t>N/A</a:t>
                      </a:r>
                      <a:endParaRPr lang="en-US" sz="1100"/>
                    </a:p>
                  </a:txBody>
                  <a:tcPr anchor="ctr" anchorCtr="false" marL="101600" marR="101600" marT="101600" marB="101600">
                    <a:lnL>
                      <a:noFill/>
                    </a:lnL>
                    <a:lnR>
                      <a:noFill/>
                    </a:lnR>
                    <a:lnT>
                      <a:noFill/>
                    </a:lnT>
                    <a:lnB cmpd="sng" algn="ctr" cap="flat" w="12700">
                      <a:solidFill>
                        <a:srgbClr val="F2F2F7"/>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333333"/>
                          </a:solidFill>
                          <a:latin typeface="Noto Sans SC"/>
                          <a:ea typeface="Noto Sans SC"/>
                          <a:cs typeface="Noto Sans SC"/>
                          <a:sym typeface="Noto Sans SC"/>
                        </a:rPr>
                        <a:t>4</a:t>
                      </a:r>
                      <a:endParaRPr lang="en-US" sz="1100"/>
                    </a:p>
                  </a:txBody>
                  <a:tcPr anchor="ctr" anchorCtr="false" marL="101600" marR="101600" marT="101600" marB="101600">
                    <a:lnL>
                      <a:noFill/>
                    </a:lnL>
                    <a:lnR>
                      <a:noFill/>
                    </a:lnR>
                    <a:lnT>
                      <a:noFill/>
                    </a:lnT>
                    <a:lnB cmpd="sng" algn="ctr" cap="flat" w="12700">
                      <a:solidFill>
                        <a:srgbClr val="F2F2F7"/>
                      </a:solidFill>
                      <a:prstDash val="solid"/>
                      <a:round/>
                      <a:headEnd type="none" w="med" len="med"/>
                      <a:tailEnd type="none" w="med" len="med"/>
                    </a:lnB>
                    <a:noFill/>
                  </a:tcPr>
                </a:tc>
              </a:tr>
              <a:tr h="444500">
                <a:tc>
                  <a:txBody>
                    <a:bodyPr anchor="t" rtlCol="false"/>
                    <a:lstStyle/>
                    <a:p>
                      <a:pPr algn="ctr" indent="0">
                        <a:lnSpc>
                          <a:spcPct val="100000"/>
                        </a:lnSpc>
                        <a:defRPr/>
                      </a:pPr>
                      <a:r>
                        <a:rPr lang="en-US" b="false" i="false" strike="noStrike" u="none" sz="1400">
                          <a:solidFill>
                            <a:srgbClr val="333333"/>
                          </a:solidFill>
                          <a:latin typeface="Noto Sans SC"/>
                          <a:ea typeface="Noto Sans SC"/>
                          <a:cs typeface="Noto Sans SC"/>
                          <a:sym typeface="Noto Sans SC"/>
                        </a:rPr>
                        <a:t>用户2</a:t>
                      </a:r>
                      <a:endParaRPr lang="en-US" sz="1100"/>
                    </a:p>
                  </a:txBody>
                  <a:tcPr anchor="ctr" anchorCtr="false" marL="101600" marR="101600" marT="101600" marB="101600">
                    <a:lnL>
                      <a:noFill/>
                    </a:lnL>
                    <a:lnR>
                      <a:noFill/>
                    </a:lnR>
                    <a:lnT cmpd="sng" algn="ctr" cap="flat" w="12700">
                      <a:solidFill>
                        <a:srgbClr val="F2F2F7"/>
                      </a:solidFill>
                      <a:prstDash val="solid"/>
                      <a:round/>
                      <a:headEnd type="none" w="med" len="med"/>
                      <a:tailEnd type="none" w="med" len="med"/>
                    </a:lnT>
                    <a:lnB cmpd="sng" algn="ctr" cap="flat" w="12700">
                      <a:solidFill>
                        <a:srgbClr val="F2F2F7"/>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333333"/>
                          </a:solidFill>
                          <a:latin typeface="Noto Sans SC"/>
                          <a:ea typeface="Noto Sans SC"/>
                          <a:cs typeface="Noto Sans SC"/>
                          <a:sym typeface="Noto Sans SC"/>
                        </a:rPr>
                        <a:t>4</a:t>
                      </a:r>
                      <a:endParaRPr lang="en-US" sz="1100"/>
                    </a:p>
                  </a:txBody>
                  <a:tcPr anchor="ctr" anchorCtr="false" marL="101600" marR="101600" marT="101600" marB="101600">
                    <a:lnL>
                      <a:noFill/>
                    </a:lnL>
                    <a:lnR>
                      <a:noFill/>
                    </a:lnR>
                    <a:lnT cmpd="sng" algn="ctr" cap="flat" w="12700">
                      <a:solidFill>
                        <a:srgbClr val="F2F2F7"/>
                      </a:solidFill>
                      <a:prstDash val="solid"/>
                      <a:round/>
                      <a:headEnd type="none" w="med" len="med"/>
                      <a:tailEnd type="none" w="med" len="med"/>
                    </a:lnT>
                    <a:lnB cmpd="sng" algn="ctr" cap="flat" w="12700">
                      <a:solidFill>
                        <a:srgbClr val="F2F2F7"/>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999999"/>
                          </a:solidFill>
                          <a:latin typeface="Noto Sans SC"/>
                          <a:ea typeface="Noto Sans SC"/>
                          <a:cs typeface="Noto Sans SC"/>
                          <a:sym typeface="Noto Sans SC"/>
                        </a:rPr>
                        <a:t>N/A</a:t>
                      </a:r>
                      <a:endParaRPr lang="en-US" sz="1100"/>
                    </a:p>
                  </a:txBody>
                  <a:tcPr anchor="ctr" anchorCtr="false" marL="101600" marR="101600" marT="101600" marB="101600">
                    <a:lnL>
                      <a:noFill/>
                    </a:lnL>
                    <a:lnR>
                      <a:noFill/>
                    </a:lnR>
                    <a:lnT cmpd="sng" algn="ctr" cap="flat" w="12700">
                      <a:solidFill>
                        <a:srgbClr val="F2F2F7"/>
                      </a:solidFill>
                      <a:prstDash val="solid"/>
                      <a:round/>
                      <a:headEnd type="none" w="med" len="med"/>
                      <a:tailEnd type="none" w="med" len="med"/>
                    </a:lnT>
                    <a:lnB cmpd="sng" algn="ctr" cap="flat" w="12700">
                      <a:solidFill>
                        <a:srgbClr val="F2F2F7"/>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333333"/>
                          </a:solidFill>
                          <a:latin typeface="Noto Sans SC"/>
                          <a:ea typeface="Noto Sans SC"/>
                          <a:cs typeface="Noto Sans SC"/>
                          <a:sym typeface="Noto Sans SC"/>
                        </a:rPr>
                        <a:t>5</a:t>
                      </a:r>
                      <a:endParaRPr lang="en-US" sz="1100"/>
                    </a:p>
                  </a:txBody>
                  <a:tcPr anchor="ctr" anchorCtr="false" marL="101600" marR="101600" marT="101600" marB="101600">
                    <a:lnL>
                      <a:noFill/>
                    </a:lnL>
                    <a:lnR>
                      <a:noFill/>
                    </a:lnR>
                    <a:lnT cmpd="sng" algn="ctr" cap="flat" w="12700">
                      <a:solidFill>
                        <a:srgbClr val="F2F2F7"/>
                      </a:solidFill>
                      <a:prstDash val="solid"/>
                      <a:round/>
                      <a:headEnd type="none" w="med" len="med"/>
                      <a:tailEnd type="none" w="med" len="med"/>
                    </a:lnT>
                    <a:lnB cmpd="sng" algn="ctr" cap="flat" w="12700">
                      <a:solidFill>
                        <a:srgbClr val="F2F2F7"/>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333333"/>
                          </a:solidFill>
                          <a:latin typeface="Noto Sans SC"/>
                          <a:ea typeface="Noto Sans SC"/>
                          <a:cs typeface="Noto Sans SC"/>
                          <a:sym typeface="Noto Sans SC"/>
                        </a:rPr>
                        <a:t>2</a:t>
                      </a:r>
                      <a:endParaRPr lang="en-US" sz="1100"/>
                    </a:p>
                  </a:txBody>
                  <a:tcPr anchor="ctr" anchorCtr="false" marL="101600" marR="101600" marT="101600" marB="101600">
                    <a:lnL>
                      <a:noFill/>
                    </a:lnL>
                    <a:lnR>
                      <a:noFill/>
                    </a:lnR>
                    <a:lnT cmpd="sng" algn="ctr" cap="flat" w="12700">
                      <a:solidFill>
                        <a:srgbClr val="F2F2F7"/>
                      </a:solidFill>
                      <a:prstDash val="solid"/>
                      <a:round/>
                      <a:headEnd type="none" w="med" len="med"/>
                      <a:tailEnd type="none" w="med" len="med"/>
                    </a:lnT>
                    <a:lnB cmpd="sng" algn="ctr" cap="flat" w="12700">
                      <a:solidFill>
                        <a:srgbClr val="F2F2F7"/>
                      </a:solidFill>
                      <a:prstDash val="solid"/>
                      <a:round/>
                      <a:headEnd type="none" w="med" len="med"/>
                      <a:tailEnd type="none" w="med" len="med"/>
                    </a:lnB>
                    <a:noFill/>
                  </a:tcPr>
                </a:tc>
              </a:tr>
              <a:tr h="444500">
                <a:tc>
                  <a:txBody>
                    <a:bodyPr anchor="t" rtlCol="false"/>
                    <a:lstStyle/>
                    <a:p>
                      <a:pPr algn="ctr" indent="0">
                        <a:lnSpc>
                          <a:spcPct val="100000"/>
                        </a:lnSpc>
                        <a:defRPr/>
                      </a:pPr>
                      <a:r>
                        <a:rPr lang="en-US" b="false" i="false" strike="noStrike" u="none" sz="1400">
                          <a:solidFill>
                            <a:srgbClr val="333333"/>
                          </a:solidFill>
                          <a:latin typeface="Noto Sans SC"/>
                          <a:ea typeface="Noto Sans SC"/>
                          <a:cs typeface="Noto Sans SC"/>
                          <a:sym typeface="Noto Sans SC"/>
                        </a:rPr>
                        <a:t>用户3</a:t>
                      </a:r>
                      <a:endParaRPr lang="en-US" sz="1100"/>
                    </a:p>
                  </a:txBody>
                  <a:tcPr anchor="ctr" anchorCtr="false" marL="101600" marR="101600" marT="101600" marB="101600">
                    <a:lnL>
                      <a:noFill/>
                    </a:lnL>
                    <a:lnR>
                      <a:noFill/>
                    </a:lnR>
                    <a:lnT cmpd="sng" algn="ctr" cap="flat" w="12700">
                      <a:solidFill>
                        <a:srgbClr val="F2F2F7"/>
                      </a:solidFill>
                      <a:prstDash val="solid"/>
                      <a:round/>
                      <a:headEnd type="none" w="med" len="med"/>
                      <a:tailEnd type="none" w="med" len="med"/>
                    </a:lnT>
                    <a:lnB cmpd="sng" algn="ctr" cap="flat" w="12700">
                      <a:solidFill>
                        <a:srgbClr val="F2F2F7"/>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999999"/>
                          </a:solidFill>
                          <a:latin typeface="Noto Sans SC"/>
                          <a:ea typeface="Noto Sans SC"/>
                          <a:cs typeface="Noto Sans SC"/>
                          <a:sym typeface="Noto Sans SC"/>
                        </a:rPr>
                        <a:t>N/A</a:t>
                      </a:r>
                      <a:endParaRPr lang="en-US" sz="1100"/>
                    </a:p>
                  </a:txBody>
                  <a:tcPr anchor="ctr" anchorCtr="false" marL="101600" marR="101600" marT="101600" marB="101600">
                    <a:lnL>
                      <a:noFill/>
                    </a:lnL>
                    <a:lnR>
                      <a:noFill/>
                    </a:lnR>
                    <a:lnT cmpd="sng" algn="ctr" cap="flat" w="12700">
                      <a:solidFill>
                        <a:srgbClr val="F2F2F7"/>
                      </a:solidFill>
                      <a:prstDash val="solid"/>
                      <a:round/>
                      <a:headEnd type="none" w="med" len="med"/>
                      <a:tailEnd type="none" w="med" len="med"/>
                    </a:lnT>
                    <a:lnB cmpd="sng" algn="ctr" cap="flat" w="12700">
                      <a:solidFill>
                        <a:srgbClr val="F2F2F7"/>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333333"/>
                          </a:solidFill>
                          <a:latin typeface="Noto Sans SC"/>
                          <a:ea typeface="Noto Sans SC"/>
                          <a:cs typeface="Noto Sans SC"/>
                          <a:sym typeface="Noto Sans SC"/>
                        </a:rPr>
                        <a:t>4</a:t>
                      </a:r>
                      <a:endParaRPr lang="en-US" sz="1100"/>
                    </a:p>
                  </a:txBody>
                  <a:tcPr anchor="ctr" anchorCtr="false" marL="101600" marR="101600" marT="101600" marB="101600">
                    <a:lnL>
                      <a:noFill/>
                    </a:lnL>
                    <a:lnR>
                      <a:noFill/>
                    </a:lnR>
                    <a:lnT cmpd="sng" algn="ctr" cap="flat" w="12700">
                      <a:solidFill>
                        <a:srgbClr val="F2F2F7"/>
                      </a:solidFill>
                      <a:prstDash val="solid"/>
                      <a:round/>
                      <a:headEnd type="none" w="med" len="med"/>
                      <a:tailEnd type="none" w="med" len="med"/>
                    </a:lnT>
                    <a:lnB cmpd="sng" algn="ctr" cap="flat" w="12700">
                      <a:solidFill>
                        <a:srgbClr val="F2F2F7"/>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333333"/>
                          </a:solidFill>
                          <a:latin typeface="Noto Sans SC"/>
                          <a:ea typeface="Noto Sans SC"/>
                          <a:cs typeface="Noto Sans SC"/>
                          <a:sym typeface="Noto Sans SC"/>
                        </a:rPr>
                        <a:t>3</a:t>
                      </a:r>
                      <a:endParaRPr lang="en-US" sz="1100"/>
                    </a:p>
                  </a:txBody>
                  <a:tcPr anchor="ctr" anchorCtr="false" marL="101600" marR="101600" marT="101600" marB="101600">
                    <a:lnL>
                      <a:noFill/>
                    </a:lnL>
                    <a:lnR>
                      <a:noFill/>
                    </a:lnR>
                    <a:lnT cmpd="sng" algn="ctr" cap="flat" w="12700">
                      <a:solidFill>
                        <a:srgbClr val="F2F2F7"/>
                      </a:solidFill>
                      <a:prstDash val="solid"/>
                      <a:round/>
                      <a:headEnd type="none" w="med" len="med"/>
                      <a:tailEnd type="none" w="med" len="med"/>
                    </a:lnT>
                    <a:lnB cmpd="sng" algn="ctr" cap="flat" w="12700">
                      <a:solidFill>
                        <a:srgbClr val="F2F2F7"/>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333333"/>
                          </a:solidFill>
                          <a:latin typeface="Noto Sans SC"/>
                          <a:ea typeface="Noto Sans SC"/>
                          <a:cs typeface="Noto Sans SC"/>
                          <a:sym typeface="Noto Sans SC"/>
                        </a:rPr>
                        <a:t>5</a:t>
                      </a:r>
                      <a:endParaRPr lang="en-US" sz="1100"/>
                    </a:p>
                  </a:txBody>
                  <a:tcPr anchor="ctr" anchorCtr="false" marL="101600" marR="101600" marT="101600" marB="101600">
                    <a:lnL>
                      <a:noFill/>
                    </a:lnL>
                    <a:lnR>
                      <a:noFill/>
                    </a:lnR>
                    <a:lnT cmpd="sng" algn="ctr" cap="flat" w="12700">
                      <a:solidFill>
                        <a:srgbClr val="F2F2F7"/>
                      </a:solidFill>
                      <a:prstDash val="solid"/>
                      <a:round/>
                      <a:headEnd type="none" w="med" len="med"/>
                      <a:tailEnd type="none" w="med" len="med"/>
                    </a:lnT>
                    <a:lnB cmpd="sng" algn="ctr" cap="flat" w="12700">
                      <a:solidFill>
                        <a:srgbClr val="F2F2F7"/>
                      </a:solidFill>
                      <a:prstDash val="solid"/>
                      <a:round/>
                      <a:headEnd type="none" w="med" len="med"/>
                      <a:tailEnd type="none" w="med" len="med"/>
                    </a:lnB>
                    <a:noFill/>
                  </a:tcPr>
                </a:tc>
              </a:tr>
              <a:tr h="444500">
                <a:tc>
                  <a:txBody>
                    <a:bodyPr anchor="t" rtlCol="false"/>
                    <a:lstStyle/>
                    <a:p>
                      <a:pPr algn="ctr" indent="0">
                        <a:lnSpc>
                          <a:spcPct val="100000"/>
                        </a:lnSpc>
                        <a:defRPr/>
                      </a:pPr>
                      <a:r>
                        <a:rPr lang="en-US" b="false" i="false" strike="noStrike" u="none" sz="1400">
                          <a:solidFill>
                            <a:srgbClr val="333333"/>
                          </a:solidFill>
                          <a:latin typeface="Noto Sans SC"/>
                          <a:ea typeface="Noto Sans SC"/>
                          <a:cs typeface="Noto Sans SC"/>
                          <a:sym typeface="Noto Sans SC"/>
                        </a:rPr>
                        <a:t>用户4</a:t>
                      </a:r>
                      <a:endParaRPr lang="en-US" sz="1100"/>
                    </a:p>
                  </a:txBody>
                  <a:tcPr anchor="ctr" anchorCtr="false" marL="101600" marR="101600" marT="101600" marB="101600">
                    <a:lnL>
                      <a:noFill/>
                    </a:lnL>
                    <a:lnR>
                      <a:noFill/>
                    </a:lnR>
                    <a:lnT cmpd="sng" algn="ctr" cap="flat" w="12700">
                      <a:solidFill>
                        <a:srgbClr val="F2F2F7"/>
                      </a:solidFill>
                      <a:prstDash val="solid"/>
                      <a:round/>
                      <a:headEnd type="none" w="med" len="med"/>
                      <a:tailEnd type="none" w="med" len="med"/>
                    </a:lnT>
                    <a:lnB>
                      <a:noFill/>
                    </a:lnB>
                    <a:noFill/>
                  </a:tcPr>
                </a:tc>
                <a:tc>
                  <a:txBody>
                    <a:bodyPr anchor="t" rtlCol="false"/>
                    <a:lstStyle/>
                    <a:p>
                      <a:pPr algn="ctr" indent="0">
                        <a:lnSpc>
                          <a:spcPct val="100000"/>
                        </a:lnSpc>
                        <a:defRPr/>
                      </a:pPr>
                      <a:r>
                        <a:rPr lang="en-US" b="false" i="false" strike="noStrike" u="none" sz="1400">
                          <a:solidFill>
                            <a:srgbClr val="333333"/>
                          </a:solidFill>
                          <a:latin typeface="Noto Sans SC"/>
                          <a:ea typeface="Noto Sans SC"/>
                          <a:cs typeface="Noto Sans SC"/>
                          <a:sym typeface="Noto Sans SC"/>
                        </a:rPr>
                        <a:t>3</a:t>
                      </a:r>
                      <a:endParaRPr lang="en-US" sz="1100"/>
                    </a:p>
                  </a:txBody>
                  <a:tcPr anchor="ctr" anchorCtr="false" marL="101600" marR="101600" marT="101600" marB="101600">
                    <a:lnL>
                      <a:noFill/>
                    </a:lnL>
                    <a:lnR>
                      <a:noFill/>
                    </a:lnR>
                    <a:lnT cmpd="sng" algn="ctr" cap="flat" w="12700">
                      <a:solidFill>
                        <a:srgbClr val="F2F2F7"/>
                      </a:solidFill>
                      <a:prstDash val="solid"/>
                      <a:round/>
                      <a:headEnd type="none" w="med" len="med"/>
                      <a:tailEnd type="none" w="med" len="med"/>
                    </a:lnT>
                    <a:lnB>
                      <a:noFill/>
                    </a:lnB>
                    <a:noFill/>
                  </a:tcPr>
                </a:tc>
                <a:tc>
                  <a:txBody>
                    <a:bodyPr anchor="t" rtlCol="false"/>
                    <a:lstStyle/>
                    <a:p>
                      <a:pPr algn="ctr" indent="0">
                        <a:lnSpc>
                          <a:spcPct val="100000"/>
                        </a:lnSpc>
                        <a:defRPr/>
                      </a:pPr>
                      <a:r>
                        <a:rPr lang="en-US" b="false" i="false" strike="noStrike" u="none" sz="1400">
                          <a:solidFill>
                            <a:srgbClr val="333333"/>
                          </a:solidFill>
                          <a:latin typeface="Noto Sans SC"/>
                          <a:ea typeface="Noto Sans SC"/>
                          <a:cs typeface="Noto Sans SC"/>
                          <a:sym typeface="Noto Sans SC"/>
                        </a:rPr>
                        <a:t>5</a:t>
                      </a:r>
                      <a:endParaRPr lang="en-US" sz="1100"/>
                    </a:p>
                  </a:txBody>
                  <a:tcPr anchor="ctr" anchorCtr="false" marL="101600" marR="101600" marT="101600" marB="101600">
                    <a:lnL>
                      <a:noFill/>
                    </a:lnL>
                    <a:lnR>
                      <a:noFill/>
                    </a:lnR>
                    <a:lnT cmpd="sng" algn="ctr" cap="flat" w="12700">
                      <a:solidFill>
                        <a:srgbClr val="F2F2F7"/>
                      </a:solidFill>
                      <a:prstDash val="solid"/>
                      <a:round/>
                      <a:headEnd type="none" w="med" len="med"/>
                      <a:tailEnd type="none" w="med" len="med"/>
                    </a:lnT>
                    <a:lnB>
                      <a:noFill/>
                    </a:lnB>
                    <a:noFill/>
                  </a:tcPr>
                </a:tc>
                <a:tc>
                  <a:txBody>
                    <a:bodyPr anchor="t" rtlCol="false"/>
                    <a:lstStyle/>
                    <a:p>
                      <a:pPr algn="ctr" indent="0">
                        <a:lnSpc>
                          <a:spcPct val="100000"/>
                        </a:lnSpc>
                        <a:defRPr/>
                      </a:pPr>
                      <a:r>
                        <a:rPr lang="en-US" b="false" i="false" strike="noStrike" u="none" sz="1400">
                          <a:solidFill>
                            <a:srgbClr val="333333"/>
                          </a:solidFill>
                          <a:latin typeface="Noto Sans SC"/>
                          <a:ea typeface="Noto Sans SC"/>
                          <a:cs typeface="Noto Sans SC"/>
                          <a:sym typeface="Noto Sans SC"/>
                        </a:rPr>
                        <a:t>4</a:t>
                      </a:r>
                      <a:endParaRPr lang="en-US" sz="1100"/>
                    </a:p>
                  </a:txBody>
                  <a:tcPr anchor="ctr" anchorCtr="false" marL="101600" marR="101600" marT="101600" marB="101600">
                    <a:lnL>
                      <a:noFill/>
                    </a:lnL>
                    <a:lnR>
                      <a:noFill/>
                    </a:lnR>
                    <a:lnT cmpd="sng" algn="ctr" cap="flat" w="12700">
                      <a:solidFill>
                        <a:srgbClr val="F2F2F7"/>
                      </a:solidFill>
                      <a:prstDash val="solid"/>
                      <a:round/>
                      <a:headEnd type="none" w="med" len="med"/>
                      <a:tailEnd type="none" w="med" len="med"/>
                    </a:lnT>
                    <a:lnB>
                      <a:noFill/>
                    </a:lnB>
                    <a:noFill/>
                  </a:tcPr>
                </a:tc>
                <a:tc>
                  <a:txBody>
                    <a:bodyPr anchor="t" rtlCol="false"/>
                    <a:lstStyle/>
                    <a:p>
                      <a:pPr algn="ctr" indent="0">
                        <a:lnSpc>
                          <a:spcPct val="100000"/>
                        </a:lnSpc>
                        <a:defRPr/>
                      </a:pPr>
                      <a:r>
                        <a:rPr lang="en-US" b="false" i="false" strike="noStrike" u="none" sz="1400">
                          <a:solidFill>
                            <a:srgbClr val="999999"/>
                          </a:solidFill>
                          <a:latin typeface="Noto Sans SC"/>
                          <a:ea typeface="Noto Sans SC"/>
                          <a:cs typeface="Noto Sans SC"/>
                          <a:sym typeface="Noto Sans SC"/>
                        </a:rPr>
                        <a:t>N/A</a:t>
                      </a:r>
                      <a:endParaRPr lang="en-US" sz="1100"/>
                    </a:p>
                  </a:txBody>
                  <a:tcPr anchor="ctr" anchorCtr="false" marL="101600" marR="101600" marT="101600" marB="101600">
                    <a:lnL>
                      <a:noFill/>
                    </a:lnL>
                    <a:lnR>
                      <a:noFill/>
                    </a:lnR>
                    <a:lnT cmpd="sng" algn="ctr" cap="flat" w="12700">
                      <a:solidFill>
                        <a:srgbClr val="F2F2F7"/>
                      </a:solidFill>
                      <a:prstDash val="solid"/>
                      <a:round/>
                      <a:headEnd type="none" w="med" len="med"/>
                      <a:tailEnd type="none" w="med" len="med"/>
                    </a:lnT>
                    <a:lnB>
                      <a:noFill/>
                    </a:lnB>
                    <a:noFill/>
                  </a:tcPr>
                </a:tc>
              </a:tr>
            </a:tbl>
          </a:graphicData>
        </a:graphic>
      </p:graphicFrame>
      <p:sp>
        <p:nvSpPr>
          <p:cNvPr name="AutoShape 7" id="7"/>
          <p:cNvSpPr/>
          <p:nvPr/>
        </p:nvSpPr>
        <p:spPr>
          <a:xfrm rot="0" flipH="false" flipV="false">
            <a:off x="762000" y="5842000"/>
            <a:ext cx="10668000" cy="635000"/>
          </a:xfrm>
          <a:prstGeom prst="roundRect">
            <a:avLst>
              <a:gd name="adj" fmla="val 20000"/>
            </a:avLst>
          </a:prstGeom>
          <a:solidFill>
            <a:srgbClr val="007AFF">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952500" y="6007100"/>
            <a:ext cx="254000" cy="254000"/>
          </a:xfrm>
          <a:prstGeom prst="rect">
            <a:avLst/>
          </a:prstGeom>
        </p:spPr>
      </p:pic>
      <p:sp>
        <p:nvSpPr>
          <p:cNvPr name="AutoShape 9" id="9"/>
          <p:cNvSpPr/>
          <p:nvPr/>
        </p:nvSpPr>
        <p:spPr>
          <a:xfrm rot="0" flipH="false" flipV="false">
            <a:off x="1270000" y="5905500"/>
            <a:ext cx="990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66666"/>
                </a:solidFill>
                <a:latin typeface="Noto Sans SC"/>
                <a:ea typeface="Noto Sans SC"/>
                <a:cs typeface="Noto Sans SC"/>
                <a:sym typeface="Noto Sans SC"/>
              </a:rPr>
              <a:t>说明：表格展示了简化的用户-物品评分矩阵，其中行代表用户，列代表物品，N/A表示用户未评分。数据为模拟示例。</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2F2F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7AFF"/>
                </a:solidFill>
                <a:latin typeface="Noto Sans SC"/>
                <a:ea typeface="Noto Sans SC"/>
                <a:cs typeface="Noto Sans SC"/>
                <a:sym typeface="Noto Sans SC"/>
              </a:rPr>
              <a:t>拼音元素示例</a:t>
            </a:r>
            <a:endParaRPr lang="en-US" sz="1100"/>
          </a:p>
        </p:txBody>
      </p:sp>
      <p:sp>
        <p:nvSpPr>
          <p:cNvPr name="AutoShape 3" id="3"/>
          <p:cNvSpPr/>
          <p:nvPr/>
        </p:nvSpPr>
        <p:spPr>
          <a:xfrm rot="0" flipH="false" flipV="false">
            <a:off x="762000" y="1651000"/>
            <a:ext cx="5207000" cy="2286000"/>
          </a:xfrm>
          <a:prstGeom prst="roundRect">
            <a:avLst>
              <a:gd name="adj" fmla="val 5555"/>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1955800"/>
            <a:ext cx="355600" cy="355600"/>
          </a:xfrm>
          <a:prstGeom prst="rect">
            <a:avLst/>
          </a:prstGeom>
        </p:spPr>
      </p:pic>
      <p:sp>
        <p:nvSpPr>
          <p:cNvPr name="AutoShape 5" id="5"/>
          <p:cNvSpPr/>
          <p:nvPr/>
        </p:nvSpPr>
        <p:spPr>
          <a:xfrm rot="0" flipH="false" flipV="false">
            <a:off x="1524000" y="1930400"/>
            <a:ext cx="41910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33333"/>
                </a:solidFill>
                <a:latin typeface="Noto Sans SC"/>
                <a:ea typeface="Noto Sans SC"/>
                <a:cs typeface="Noto Sans SC"/>
                <a:sym typeface="Noto Sans SC"/>
              </a:rPr>
              <a:t>系统定义</a:t>
            </a:r>
            <a:endParaRPr lang="en-US" sz="1100"/>
          </a:p>
        </p:txBody>
      </p:sp>
      <p:cxnSp>
        <p:nvCxnSpPr>
          <p:cNvPr name="Connector 6" id="6"/>
          <p:cNvCxnSpPr/>
          <p:nvPr/>
        </p:nvCxnSpPr>
        <p:spPr>
          <a:xfrm rot="-9496" flipH="false" flipV="false">
            <a:off x="1066809" y="2406650"/>
            <a:ext cx="4597400" cy="12700"/>
          </a:xfrm>
          <a:prstGeom prst="straightConnector1">
            <a:avLst/>
          </a:prstGeom>
          <a:solidFill>
            <a:srgbClr val="DEE0E3">
              <a:alpha val="100000"/>
            </a:srgbClr>
          </a:solidFill>
          <a:ln w="12700" cmpd="sng" cap="flat">
            <a:solidFill>
              <a:srgbClr val="E6E6E6">
                <a:alpha val="100000"/>
              </a:srgbClr>
            </a:solidFill>
            <a:prstDash val="solid"/>
            <a:round/>
            <a:headEnd type="none" w="med" len="med"/>
            <a:tailEnd type="none" w="med" len="med"/>
          </a:ln>
        </p:spPr>
      </p:cxnSp>
      <p:sp>
        <p:nvSpPr>
          <p:cNvPr name="AutoShape 7" id="7"/>
          <p:cNvSpPr/>
          <p:nvPr/>
        </p:nvSpPr>
        <p:spPr>
          <a:xfrm rot="0" flipH="false" flipV="false">
            <a:off x="1066800" y="2540000"/>
            <a:ext cx="45974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333333"/>
                </a:solidFill>
                <a:latin typeface="Noto Sans SC"/>
                <a:ea typeface="Noto Sans SC"/>
                <a:cs typeface="Noto Sans SC"/>
                <a:sym typeface="Noto Sans SC"/>
              </a:rPr>
              <a:t>智能推荐系统</a:t>
            </a:r>
            <a:r>
              <a:rPr lang="en-US" b="false" i="false" strike="noStrike" u="none" sz="1200">
                <a:solidFill>
                  <a:srgbClr val="999999"/>
                </a:solidFill>
                <a:latin typeface="Noto Sans SC"/>
                <a:ea typeface="Noto Sans SC"/>
                <a:cs typeface="Noto Sans SC"/>
                <a:sym typeface="Noto Sans SC"/>
              </a:rPr>
              <a:t>(zhì néng tuī jiàn xì tǒng)</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66666"/>
                </a:solidFill>
                <a:latin typeface="Noto Sans SC"/>
                <a:ea typeface="Noto Sans SC"/>
                <a:cs typeface="Noto Sans SC"/>
                <a:sym typeface="Noto Sans SC"/>
              </a:rPr>
              <a:t>根据用户兴趣和行为，自动推荐感兴趣信息的系统。</a:t>
            </a:r>
          </a:p>
        </p:txBody>
      </p:sp>
      <p:sp>
        <p:nvSpPr>
          <p:cNvPr name="AutoShape 8" id="8"/>
          <p:cNvSpPr/>
          <p:nvPr/>
        </p:nvSpPr>
        <p:spPr>
          <a:xfrm rot="0" flipH="false" flipV="false">
            <a:off x="6223000" y="1651000"/>
            <a:ext cx="5207000" cy="2286000"/>
          </a:xfrm>
          <a:prstGeom prst="roundRect">
            <a:avLst>
              <a:gd name="adj" fmla="val 5555"/>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527800" y="1955800"/>
            <a:ext cx="355600" cy="355600"/>
          </a:xfrm>
          <a:prstGeom prst="rect">
            <a:avLst/>
          </a:prstGeom>
        </p:spPr>
      </p:pic>
      <p:sp>
        <p:nvSpPr>
          <p:cNvPr name="AutoShape 10" id="10"/>
          <p:cNvSpPr/>
          <p:nvPr/>
        </p:nvSpPr>
        <p:spPr>
          <a:xfrm rot="0" flipH="false" flipV="false">
            <a:off x="6985000" y="1930400"/>
            <a:ext cx="41910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33333"/>
                </a:solidFill>
                <a:latin typeface="Noto Sans SC"/>
                <a:ea typeface="Noto Sans SC"/>
                <a:cs typeface="Noto Sans SC"/>
                <a:sym typeface="Noto Sans SC"/>
              </a:rPr>
              <a:t>应用领域</a:t>
            </a:r>
            <a:endParaRPr lang="en-US" sz="1100"/>
          </a:p>
        </p:txBody>
      </p:sp>
      <p:cxnSp>
        <p:nvCxnSpPr>
          <p:cNvPr name="Connector 11" id="11"/>
          <p:cNvCxnSpPr/>
          <p:nvPr/>
        </p:nvCxnSpPr>
        <p:spPr>
          <a:xfrm rot="-9496" flipH="false" flipV="false">
            <a:off x="6527809" y="2406650"/>
            <a:ext cx="4597400" cy="12700"/>
          </a:xfrm>
          <a:prstGeom prst="straightConnector1">
            <a:avLst/>
          </a:prstGeom>
          <a:solidFill>
            <a:srgbClr val="DEE0E3">
              <a:alpha val="100000"/>
            </a:srgbClr>
          </a:solidFill>
          <a:ln w="12700" cmpd="sng" cap="flat">
            <a:solidFill>
              <a:srgbClr val="E6E6E6">
                <a:alpha val="100000"/>
              </a:srgbClr>
            </a:solidFill>
            <a:prstDash val="solid"/>
            <a:round/>
            <a:headEnd type="none" w="med" len="med"/>
            <a:tailEnd type="none" w="med" len="med"/>
          </a:ln>
        </p:spPr>
      </p:cxnSp>
      <p:sp>
        <p:nvSpPr>
          <p:cNvPr name="AutoShape 12" id="12"/>
          <p:cNvSpPr/>
          <p:nvPr/>
        </p:nvSpPr>
        <p:spPr>
          <a:xfrm rot="0" flipH="false" flipV="false">
            <a:off x="6527800" y="2540000"/>
            <a:ext cx="4597400" cy="1143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333333"/>
              </a:buClr>
              <a:buChar char="•"/>
              <a:defRPr/>
            </a:pPr>
            <a:r>
              <a:rPr lang="en-US" b="false" i="false" strike="noStrike" u="none" sz="1400">
                <a:solidFill>
                  <a:srgbClr val="333333"/>
                </a:solidFill>
                <a:latin typeface="Noto Sans SC"/>
                <a:ea typeface="Noto Sans SC"/>
                <a:cs typeface="Noto Sans SC"/>
                <a:sym typeface="Noto Sans SC"/>
              </a:rPr>
              <a:t>电子商务</a:t>
            </a:r>
            <a:r>
              <a:rPr lang="en-US" b="false" i="false" strike="noStrike" u="none" sz="1200">
                <a:solidFill>
                  <a:srgbClr val="999999"/>
                </a:solidFill>
                <a:latin typeface="Noto Sans SC"/>
                <a:ea typeface="Noto Sans SC"/>
                <a:cs typeface="Noto Sans SC"/>
                <a:sym typeface="Noto Sans SC"/>
              </a:rPr>
              <a:t>(diàn zǐ shāng wù)</a:t>
            </a:r>
            <a:r>
              <a:rPr lang="en-US" b="false" i="false" strike="noStrike" u="none" sz="1600">
                <a:solidFill>
                  <a:srgbClr val="1F2329"/>
                </a:solidFill>
                <a:latin typeface="Noto Sans SC"/>
                <a:ea typeface="Noto Sans SC"/>
                <a:cs typeface="Noto Sans SC"/>
                <a:sym typeface="Noto Sans SC"/>
              </a:rPr>
              <a:t/>
            </a:r>
            <a:endParaRPr lang="en-US" sz="1100"/>
          </a:p>
          <a:p>
            <a:pPr algn="l" indent="-177800" marL="177800">
              <a:lnSpc>
                <a:spcPct val="125000"/>
              </a:lnSpc>
              <a:buClr>
                <a:srgbClr val="333333"/>
              </a:buClr>
              <a:buChar char="•"/>
            </a:pPr>
            <a:r>
              <a:rPr lang="en-US" b="false" i="false" strike="noStrike" u="none" sz="1400">
                <a:solidFill>
                  <a:srgbClr val="333333"/>
                </a:solidFill>
                <a:latin typeface="Noto Sans SC"/>
                <a:ea typeface="Noto Sans SC"/>
                <a:cs typeface="Noto Sans SC"/>
                <a:sym typeface="Noto Sans SC"/>
              </a:rPr>
              <a:t>在线视频</a:t>
            </a:r>
            <a:r>
              <a:rPr lang="en-US" b="false" i="false" strike="noStrike" u="none" sz="1200">
                <a:solidFill>
                  <a:srgbClr val="999999"/>
                </a:solidFill>
                <a:latin typeface="Noto Sans SC"/>
                <a:ea typeface="Noto Sans SC"/>
                <a:cs typeface="Noto Sans SC"/>
                <a:sym typeface="Noto Sans SC"/>
              </a:rPr>
              <a:t>(zài xiàn shì pín)</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333333"/>
              </a:buClr>
              <a:buChar char="•"/>
            </a:pPr>
            <a:r>
              <a:rPr lang="en-US" b="false" i="false" strike="noStrike" u="none" sz="1400">
                <a:solidFill>
                  <a:srgbClr val="333333"/>
                </a:solidFill>
                <a:latin typeface="Noto Sans SC"/>
                <a:ea typeface="Noto Sans SC"/>
                <a:cs typeface="Noto Sans SC"/>
                <a:sym typeface="Noto Sans SC"/>
              </a:rPr>
              <a:t>音乐平台</a:t>
            </a:r>
            <a:r>
              <a:rPr lang="en-US" b="false" i="false" strike="noStrike" u="none" sz="1200">
                <a:solidFill>
                  <a:srgbClr val="999999"/>
                </a:solidFill>
                <a:latin typeface="Noto Sans SC"/>
                <a:ea typeface="Noto Sans SC"/>
                <a:cs typeface="Noto Sans SC"/>
                <a:sym typeface="Noto Sans SC"/>
              </a:rPr>
              <a:t>(yīn yuè píng tái)</a:t>
            </a:r>
          </a:p>
        </p:txBody>
      </p:sp>
      <p:sp>
        <p:nvSpPr>
          <p:cNvPr name="AutoShape 13" id="13"/>
          <p:cNvSpPr/>
          <p:nvPr/>
        </p:nvSpPr>
        <p:spPr>
          <a:xfrm rot="0" flipH="false" flipV="false">
            <a:off x="762000" y="4191000"/>
            <a:ext cx="10668000" cy="1778000"/>
          </a:xfrm>
          <a:prstGeom prst="roundRect">
            <a:avLst>
              <a:gd name="adj" fmla="val 7142"/>
            </a:avLst>
          </a:prstGeom>
          <a:solidFill>
            <a:srgbClr val="007AFF">
              <a:alpha val="8000"/>
            </a:srgbClr>
          </a:solidFill>
          <a:ln w="12700" cmpd="sng" cap="flat">
            <a:solidFill>
              <a:srgbClr val="007AFF">
                <a:alpha val="2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66800" y="4495800"/>
            <a:ext cx="355600" cy="355600"/>
          </a:xfrm>
          <a:prstGeom prst="rect">
            <a:avLst/>
          </a:prstGeom>
        </p:spPr>
      </p:pic>
      <p:sp>
        <p:nvSpPr>
          <p:cNvPr name="AutoShape 15" id="15"/>
          <p:cNvSpPr/>
          <p:nvPr/>
        </p:nvSpPr>
        <p:spPr>
          <a:xfrm rot="0" flipH="false" flipV="false">
            <a:off x="1524000" y="4470400"/>
            <a:ext cx="95250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33333"/>
                </a:solidFill>
                <a:latin typeface="Noto Sans SC"/>
                <a:ea typeface="Noto Sans SC"/>
                <a:cs typeface="Noto Sans SC"/>
                <a:sym typeface="Noto Sans SC"/>
              </a:rPr>
              <a:t>功能概述</a:t>
            </a:r>
            <a:endParaRPr lang="en-US" sz="1100"/>
          </a:p>
        </p:txBody>
      </p:sp>
      <p:sp>
        <p:nvSpPr>
          <p:cNvPr name="AutoShape 16" id="16"/>
          <p:cNvSpPr/>
          <p:nvPr/>
        </p:nvSpPr>
        <p:spPr>
          <a:xfrm rot="0" flipH="false" flipV="false">
            <a:off x="1066800" y="4953000"/>
            <a:ext cx="100584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66666"/>
                </a:solidFill>
                <a:latin typeface="Noto Sans SC"/>
                <a:ea typeface="Noto Sans SC"/>
                <a:cs typeface="Noto Sans SC"/>
                <a:sym typeface="Noto Sans SC"/>
              </a:rPr>
              <a:t>智能推荐系统广泛应用于各大互联网平台，通过分析用户行为数据，实现个性化内容分发，提升用户体验与平台粘性。</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2F2F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7AFF"/>
                </a:solidFill>
                <a:latin typeface="Noto Sans SC"/>
                <a:ea typeface="Noto Sans SC"/>
                <a:cs typeface="Noto Sans SC"/>
                <a:sym typeface="Noto Sans SC"/>
              </a:rPr>
              <a:t>代码块示例</a:t>
            </a:r>
            <a:endParaRPr lang="en-US" sz="1100"/>
          </a:p>
        </p:txBody>
      </p:sp>
      <p:sp>
        <p:nvSpPr>
          <p:cNvPr name="AutoShape 3" id="3"/>
          <p:cNvSpPr/>
          <p:nvPr/>
        </p:nvSpPr>
        <p:spPr>
          <a:xfrm rot="0" flipH="false" flipV="false">
            <a:off x="762000" y="1651000"/>
            <a:ext cx="10668000" cy="4572000"/>
          </a:xfrm>
          <a:prstGeom prst="roundRect">
            <a:avLst>
              <a:gd name="adj" fmla="val 2777"/>
            </a:avLst>
          </a:prstGeom>
          <a:solidFill>
            <a:srgbClr val="FFFFFF">
              <a:alpha val="100000"/>
            </a:srgbClr>
          </a:solidFill>
          <a:ln cmpd="sng" cap="flat">
            <a:solidFill>
              <a:srgbClr val="E6CFCF">
                <a:alpha val="100000"/>
              </a:srgbClr>
            </a:solidFill>
            <a:prstDash val="solid"/>
            <a:round/>
          </a:ln>
          <a:effectLst>
            <a:outerShdw dir="5400000" dist="50800" blurRad="127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651000"/>
            <a:ext cx="10668000" cy="508000"/>
          </a:xfrm>
          <a:prstGeom prst="roundRect">
            <a:avLst>
              <a:gd name="adj" fmla="val 25000"/>
            </a:avLst>
          </a:prstGeom>
          <a:solidFill>
            <a:srgbClr val="F5F5F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803400"/>
            <a:ext cx="152400" cy="152400"/>
          </a:xfrm>
          <a:prstGeom prst="ellipse">
            <a:avLst/>
          </a:prstGeom>
          <a:solidFill>
            <a:srgbClr val="FF5F5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270000" y="1803400"/>
            <a:ext cx="152400" cy="152400"/>
          </a:xfrm>
          <a:prstGeom prst="ellipse">
            <a:avLst/>
          </a:prstGeom>
          <a:solidFill>
            <a:srgbClr val="FFBD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524000" y="1803400"/>
            <a:ext cx="152400" cy="152400"/>
          </a:xfrm>
          <a:prstGeom prst="ellipse">
            <a:avLst/>
          </a:prstGeom>
          <a:solidFill>
            <a:srgbClr val="27C93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905000" y="17526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E8E93"/>
                </a:solidFill>
                <a:latin typeface="Noto Sans SC"/>
                <a:ea typeface="Noto Sans SC"/>
                <a:cs typeface="Noto Sans SC"/>
                <a:sym typeface="Noto Sans SC"/>
              </a:rPr>
              <a:t>Python - 余弦相似度计算</a:t>
            </a:r>
            <a:endParaRPr lang="en-US" sz="1100"/>
          </a:p>
        </p:txBody>
      </p:sp>
      <p:sp>
        <p:nvSpPr>
          <p:cNvPr name="AutoShape 9" id="9"/>
          <p:cNvSpPr/>
          <p:nvPr/>
        </p:nvSpPr>
        <p:spPr>
          <a:xfrm rot="0" flipH="false" flipV="false">
            <a:off x="1016000" y="2286000"/>
            <a:ext cx="10160000" cy="381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C678DD"/>
                </a:solidFill>
                <a:latin typeface="Roboto Mono"/>
                <a:ea typeface="Roboto Mono"/>
                <a:cs typeface="Roboto Mono"/>
                <a:sym typeface="Roboto Mono"/>
              </a:rPr>
              <a:t>import</a:t>
            </a:r>
            <a:r>
              <a:rPr lang="en-US" b="false" i="false" strike="noStrike" u="none" sz="1300">
                <a:solidFill>
                  <a:srgbClr val="333333"/>
                </a:solidFill>
                <a:latin typeface="Roboto Mono"/>
                <a:ea typeface="Roboto Mono"/>
                <a:cs typeface="Roboto Mono"/>
                <a:sym typeface="Roboto Mono"/>
              </a:rPr>
              <a:t> numpy </a:t>
            </a:r>
            <a:r>
              <a:rPr lang="en-US" b="false" i="false" strike="noStrike" u="none" sz="1300">
                <a:solidFill>
                  <a:srgbClr val="C678DD"/>
                </a:solidFill>
                <a:latin typeface="Roboto Mono"/>
                <a:ea typeface="Roboto Mono"/>
                <a:cs typeface="Roboto Mono"/>
                <a:sym typeface="Roboto Mono"/>
              </a:rPr>
              <a:t>as</a:t>
            </a:r>
            <a:r>
              <a:rPr lang="en-US" b="false" i="false" strike="noStrike" u="none" sz="1300">
                <a:solidFill>
                  <a:srgbClr val="333333"/>
                </a:solidFill>
                <a:latin typeface="Roboto Mono"/>
                <a:ea typeface="Roboto Mono"/>
                <a:cs typeface="Roboto Mono"/>
                <a:sym typeface="Roboto Mono"/>
              </a:rPr>
              <a:t> np</a:t>
            </a:r>
            <a:r>
              <a:rPr lang="en-US" b="false" i="false" strike="noStrike" u="none" sz="1300">
                <a:solidFill>
                  <a:srgbClr val="1F2329"/>
                </a:solidFill>
                <a:latin typeface="Roboto Mono"/>
                <a:ea typeface="Roboto Mono"/>
                <a:cs typeface="Roboto Mono"/>
                <a:sym typeface="Roboto Mono"/>
              </a:rPr>
              <a:t/>
            </a:r>
            <a:endParaRPr lang="en-US" sz="1100"/>
          </a:p>
          <a:p>
            <a:pPr algn="l" indent="0">
              <a:lnSpc>
                <a:spcPct val="125000"/>
              </a:lnSpc>
            </a:pPr>
            <a:r>
              <a:rPr lang="en-US" b="false" i="false" strike="noStrike" u="none" sz="1300">
                <a:solidFill>
                  <a:srgbClr val="1F2329"/>
                </a:solidFill>
                <a:latin typeface="Roboto Mono"/>
                <a:ea typeface="Roboto Mono"/>
                <a:cs typeface="Roboto Mono"/>
                <a:sym typeface="Roboto Mono"/>
              </a:rPr>
              <a:t/>
            </a:r>
            <a:br>
              <a:rPr lang="en-US" b="false" i="false" strike="noStrike" u="none" sz="1300">
                <a:solidFill>
                  <a:srgbClr val="1F2329"/>
                </a:solidFill>
                <a:latin typeface="Roboto Mono"/>
                <a:ea typeface="Roboto Mono"/>
                <a:cs typeface="Roboto Mono"/>
                <a:sym typeface="Roboto Mono"/>
              </a:rPr>
            </a:br>
            <a:r>
              <a:rPr lang="en-US" b="false" i="false" strike="noStrike" u="none" sz="1300">
                <a:solidFill>
                  <a:srgbClr val="1F2329"/>
                </a:solidFill>
                <a:latin typeface="Roboto Mono"/>
                <a:ea typeface="Roboto Mono"/>
                <a:cs typeface="Roboto Mono"/>
                <a:sym typeface="Roboto Mono"/>
              </a:rPr>
              <a:t/>
            </a:r>
          </a:p>
          <a:p>
            <a:pPr algn="l" indent="0">
              <a:lnSpc>
                <a:spcPct val="125000"/>
              </a:lnSpc>
            </a:pPr>
            <a:r>
              <a:rPr lang="en-US" b="false" i="false" strike="noStrike" u="none" sz="1300">
                <a:solidFill>
                  <a:srgbClr val="C678DD"/>
                </a:solidFill>
                <a:latin typeface="Roboto Mono"/>
                <a:ea typeface="Roboto Mono"/>
                <a:cs typeface="Roboto Mono"/>
                <a:sym typeface="Roboto Mono"/>
              </a:rPr>
              <a:t>def</a:t>
            </a:r>
            <a:r>
              <a:rPr lang="en-US" b="false" i="false" strike="noStrike" u="none" sz="1300">
                <a:solidFill>
                  <a:srgbClr val="61AFEF"/>
                </a:solidFill>
                <a:latin typeface="Roboto Mono"/>
                <a:ea typeface="Roboto Mono"/>
                <a:cs typeface="Roboto Mono"/>
                <a:sym typeface="Roboto Mono"/>
              </a:rPr>
              <a:t> cosine_similarity</a:t>
            </a:r>
            <a:r>
              <a:rPr lang="en-US" b="false" i="false" strike="noStrike" u="none" sz="1300">
                <a:solidFill>
                  <a:srgbClr val="333333"/>
                </a:solidFill>
                <a:latin typeface="Roboto Mono"/>
                <a:ea typeface="Roboto Mono"/>
                <a:cs typeface="Roboto Mono"/>
                <a:sym typeface="Roboto Mono"/>
              </a:rPr>
              <a:t>(user1_ratings, user2_ratings):</a:t>
            </a:r>
            <a:r>
              <a:rPr lang="en-US" b="false" i="false" strike="noStrike" u="none" sz="1300">
                <a:solidFill>
                  <a:srgbClr val="1F2329"/>
                </a:solidFill>
                <a:latin typeface="Roboto Mono"/>
                <a:ea typeface="Roboto Mono"/>
                <a:cs typeface="Roboto Mono"/>
                <a:sym typeface="Roboto Mono"/>
              </a:rPr>
              <a:t/>
            </a:r>
          </a:p>
          <a:p>
            <a:pPr algn="l" indent="0">
              <a:lnSpc>
                <a:spcPct val="125000"/>
              </a:lnSpc>
            </a:pPr>
            <a:r>
              <a:rPr lang="en-US" b="false" i="false" strike="noStrike" u="none" sz="1300">
                <a:solidFill>
                  <a:srgbClr val="333333"/>
                </a:solidFill>
                <a:latin typeface="Roboto Mono"/>
                <a:ea typeface="Roboto Mono"/>
                <a:cs typeface="Roboto Mono"/>
                <a:sym typeface="Roboto Mono"/>
              </a:rPr>
              <a:t>    """</a:t>
            </a:r>
            <a:r>
              <a:rPr lang="en-US" b="false" i="false" strike="noStrike" u="none" sz="1300">
                <a:solidFill>
                  <a:srgbClr val="1F2329"/>
                </a:solidFill>
                <a:latin typeface="Roboto Mono"/>
                <a:ea typeface="Roboto Mono"/>
                <a:cs typeface="Roboto Mono"/>
                <a:sym typeface="Roboto Mono"/>
              </a:rPr>
              <a:t/>
            </a:r>
          </a:p>
          <a:p>
            <a:pPr algn="l" indent="0">
              <a:lnSpc>
                <a:spcPct val="125000"/>
              </a:lnSpc>
            </a:pPr>
            <a:r>
              <a:rPr lang="en-US" b="false" i="false" strike="noStrike" u="none" sz="1300">
                <a:solidFill>
                  <a:srgbClr val="333333"/>
                </a:solidFill>
                <a:latin typeface="Roboto Mono"/>
                <a:ea typeface="Roboto Mono"/>
                <a:cs typeface="Roboto Mono"/>
                <a:sym typeface="Roboto Mono"/>
              </a:rPr>
              <a:t>    计算两个用户之间的余弦相似度</a:t>
            </a:r>
            <a:r>
              <a:rPr lang="en-US" b="false" i="false" strike="noStrike" u="none" sz="1300">
                <a:solidFill>
                  <a:srgbClr val="1F2329"/>
                </a:solidFill>
                <a:latin typeface="Roboto Mono"/>
                <a:ea typeface="Roboto Mono"/>
                <a:cs typeface="Roboto Mono"/>
                <a:sym typeface="Roboto Mono"/>
              </a:rPr>
              <a:t/>
            </a:r>
          </a:p>
          <a:p>
            <a:pPr algn="l" indent="0">
              <a:lnSpc>
                <a:spcPct val="125000"/>
              </a:lnSpc>
            </a:pPr>
            <a:r>
              <a:rPr lang="en-US" b="false" i="false" strike="noStrike" u="none" sz="1300">
                <a:solidFill>
                  <a:srgbClr val="333333"/>
                </a:solidFill>
                <a:latin typeface="Roboto Mono"/>
                <a:ea typeface="Roboto Mono"/>
                <a:cs typeface="Roboto Mono"/>
                <a:sym typeface="Roboto Mono"/>
              </a:rPr>
              <a:t>    """</a:t>
            </a:r>
            <a:r>
              <a:rPr lang="en-US" b="false" i="false" strike="noStrike" u="none" sz="1300">
                <a:solidFill>
                  <a:srgbClr val="1F2329"/>
                </a:solidFill>
                <a:latin typeface="Roboto Mono"/>
                <a:ea typeface="Roboto Mono"/>
                <a:cs typeface="Roboto Mono"/>
                <a:sym typeface="Roboto Mono"/>
              </a:rPr>
              <a:t/>
            </a:r>
          </a:p>
          <a:p>
            <a:pPr algn="l" indent="0">
              <a:lnSpc>
                <a:spcPct val="125000"/>
              </a:lnSpc>
            </a:pPr>
            <a:r>
              <a:rPr lang="en-US" b="false" i="false" strike="noStrike" u="none" sz="1300">
                <a:solidFill>
                  <a:srgbClr val="5C6370"/>
                </a:solidFill>
                <a:latin typeface="Roboto Mono"/>
                <a:ea typeface="Roboto Mono"/>
                <a:cs typeface="Roboto Mono"/>
                <a:sym typeface="Roboto Mono"/>
              </a:rPr>
              <a:t>    # 找到共同评分的物品</a:t>
            </a:r>
            <a:r>
              <a:rPr lang="en-US" b="false" i="false" strike="noStrike" u="none" sz="1300">
                <a:solidFill>
                  <a:srgbClr val="1F2329"/>
                </a:solidFill>
                <a:latin typeface="Roboto Mono"/>
                <a:ea typeface="Roboto Mono"/>
                <a:cs typeface="Roboto Mono"/>
                <a:sym typeface="Roboto Mono"/>
              </a:rPr>
              <a:t/>
            </a:r>
          </a:p>
          <a:p>
            <a:pPr algn="l" indent="0">
              <a:lnSpc>
                <a:spcPct val="125000"/>
              </a:lnSpc>
            </a:pPr>
            <a:r>
              <a:rPr lang="en-US" b="false" i="false" strike="noStrike" u="none" sz="1300">
                <a:solidFill>
                  <a:srgbClr val="333333"/>
                </a:solidFill>
                <a:latin typeface="Roboto Mono"/>
                <a:ea typeface="Roboto Mono"/>
                <a:cs typeface="Roboto Mono"/>
                <a:sym typeface="Roboto Mono"/>
              </a:rPr>
              <a:t>    common_items = np.nonzero((user1_ratings &gt; 0) &amp; (user2_ratings &gt; 0))[0]</a:t>
            </a:r>
            <a:r>
              <a:rPr lang="en-US" b="false" i="false" strike="noStrike" u="none" sz="1300">
                <a:solidFill>
                  <a:srgbClr val="1F2329"/>
                </a:solidFill>
                <a:latin typeface="Roboto Mono"/>
                <a:ea typeface="Roboto Mono"/>
                <a:cs typeface="Roboto Mono"/>
                <a:sym typeface="Roboto Mono"/>
              </a:rPr>
              <a:t/>
            </a:r>
          </a:p>
          <a:p>
            <a:pPr algn="l" indent="0">
              <a:lnSpc>
                <a:spcPct val="125000"/>
              </a:lnSpc>
            </a:pPr>
            <a:r>
              <a:rPr lang="en-US" b="false" i="false" strike="noStrike" u="none" sz="1300">
                <a:solidFill>
                  <a:srgbClr val="C678DD"/>
                </a:solidFill>
                <a:latin typeface="Roboto Mono"/>
                <a:ea typeface="Roboto Mono"/>
                <a:cs typeface="Roboto Mono"/>
                <a:sym typeface="Roboto Mono"/>
              </a:rPr>
              <a:t>    if</a:t>
            </a:r>
            <a:r>
              <a:rPr lang="en-US" b="false" i="false" strike="noStrike" u="none" sz="1300">
                <a:solidFill>
                  <a:srgbClr val="333333"/>
                </a:solidFill>
                <a:latin typeface="Roboto Mono"/>
                <a:ea typeface="Roboto Mono"/>
                <a:cs typeface="Roboto Mono"/>
                <a:sym typeface="Roboto Mono"/>
              </a:rPr>
              <a:t> len(common_items) == 0:</a:t>
            </a:r>
            <a:r>
              <a:rPr lang="en-US" b="false" i="false" strike="noStrike" u="none" sz="1300">
                <a:solidFill>
                  <a:srgbClr val="1F2329"/>
                </a:solidFill>
                <a:latin typeface="Roboto Mono"/>
                <a:ea typeface="Roboto Mono"/>
                <a:cs typeface="Roboto Mono"/>
                <a:sym typeface="Roboto Mono"/>
              </a:rPr>
              <a:t/>
            </a:r>
          </a:p>
          <a:p>
            <a:pPr algn="l" indent="0">
              <a:lnSpc>
                <a:spcPct val="125000"/>
              </a:lnSpc>
            </a:pPr>
            <a:r>
              <a:rPr lang="en-US" b="false" i="false" strike="noStrike" u="none" sz="1300">
                <a:solidFill>
                  <a:srgbClr val="C678DD"/>
                </a:solidFill>
                <a:latin typeface="Roboto Mono"/>
                <a:ea typeface="Roboto Mono"/>
                <a:cs typeface="Roboto Mono"/>
                <a:sym typeface="Roboto Mono"/>
              </a:rPr>
              <a:t>        return</a:t>
            </a:r>
            <a:r>
              <a:rPr lang="en-US" b="false" i="false" strike="noStrike" u="none" sz="1300">
                <a:solidFill>
                  <a:srgbClr val="D19A66"/>
                </a:solidFill>
                <a:latin typeface="Roboto Mono"/>
                <a:ea typeface="Roboto Mono"/>
                <a:cs typeface="Roboto Mono"/>
                <a:sym typeface="Roboto Mono"/>
              </a:rPr>
              <a:t> 0.0</a:t>
            </a:r>
            <a:r>
              <a:rPr lang="en-US" b="false" i="false" strike="noStrike" u="none" sz="1300">
                <a:solidFill>
                  <a:srgbClr val="1F2329"/>
                </a:solidFill>
                <a:latin typeface="Roboto Mono"/>
                <a:ea typeface="Roboto Mono"/>
                <a:cs typeface="Roboto Mono"/>
                <a:sym typeface="Roboto Mono"/>
              </a:rPr>
              <a:t/>
            </a:r>
          </a:p>
          <a:p>
            <a:pPr algn="l" indent="0">
              <a:lnSpc>
                <a:spcPct val="125000"/>
              </a:lnSpc>
            </a:pPr>
            <a:r>
              <a:rPr lang="en-US" b="false" i="false" strike="noStrike" u="none" sz="1300">
                <a:solidFill>
                  <a:srgbClr val="5C6370"/>
                </a:solidFill>
                <a:latin typeface="Roboto Mono"/>
                <a:ea typeface="Roboto Mono"/>
                <a:cs typeface="Roboto Mono"/>
                <a:sym typeface="Roboto Mono"/>
              </a:rPr>
              <a:t>    # 计算余弦相似度</a:t>
            </a:r>
            <a:r>
              <a:rPr lang="en-US" b="false" i="false" strike="noStrike" u="none" sz="1300">
                <a:solidFill>
                  <a:srgbClr val="1F2329"/>
                </a:solidFill>
                <a:latin typeface="Roboto Mono"/>
                <a:ea typeface="Roboto Mono"/>
                <a:cs typeface="Roboto Mono"/>
                <a:sym typeface="Roboto Mono"/>
              </a:rPr>
              <a:t/>
            </a:r>
          </a:p>
          <a:p>
            <a:pPr algn="l" indent="0">
              <a:lnSpc>
                <a:spcPct val="125000"/>
              </a:lnSpc>
            </a:pPr>
            <a:r>
              <a:rPr lang="en-US" b="false" i="false" strike="noStrike" u="none" sz="1300">
                <a:solidFill>
                  <a:srgbClr val="333333"/>
                </a:solidFill>
                <a:latin typeface="Roboto Mono"/>
                <a:ea typeface="Roboto Mono"/>
                <a:cs typeface="Roboto Mono"/>
                <a:sym typeface="Roboto Mono"/>
              </a:rPr>
              <a:t>    vec1 = user1_ratings[common_items]</a:t>
            </a:r>
            <a:r>
              <a:rPr lang="en-US" b="false" i="false" strike="noStrike" u="none" sz="1300">
                <a:solidFill>
                  <a:srgbClr val="1F2329"/>
                </a:solidFill>
                <a:latin typeface="Roboto Mono"/>
                <a:ea typeface="Roboto Mono"/>
                <a:cs typeface="Roboto Mono"/>
                <a:sym typeface="Roboto Mono"/>
              </a:rPr>
              <a:t/>
            </a:r>
          </a:p>
          <a:p>
            <a:pPr algn="l" indent="0">
              <a:lnSpc>
                <a:spcPct val="125000"/>
              </a:lnSpc>
            </a:pPr>
            <a:r>
              <a:rPr lang="en-US" b="false" i="false" strike="noStrike" u="none" sz="1300">
                <a:solidFill>
                  <a:srgbClr val="333333"/>
                </a:solidFill>
                <a:latin typeface="Roboto Mono"/>
                <a:ea typeface="Roboto Mono"/>
                <a:cs typeface="Roboto Mono"/>
                <a:sym typeface="Roboto Mono"/>
              </a:rPr>
              <a:t>    vec2 = user2_ratings[common_items]</a:t>
            </a:r>
            <a:r>
              <a:rPr lang="en-US" b="false" i="false" strike="noStrike" u="none" sz="1300">
                <a:solidFill>
                  <a:srgbClr val="1F2329"/>
                </a:solidFill>
                <a:latin typeface="Roboto Mono"/>
                <a:ea typeface="Roboto Mono"/>
                <a:cs typeface="Roboto Mono"/>
                <a:sym typeface="Roboto Mono"/>
              </a:rPr>
              <a:t/>
            </a:r>
          </a:p>
          <a:p>
            <a:pPr algn="l" indent="0">
              <a:lnSpc>
                <a:spcPct val="125000"/>
              </a:lnSpc>
            </a:pPr>
            <a:r>
              <a:rPr lang="en-US" b="false" i="false" strike="noStrike" u="none" sz="1300">
                <a:solidFill>
                  <a:srgbClr val="333333"/>
                </a:solidFill>
                <a:latin typeface="Roboto Mono"/>
                <a:ea typeface="Roboto Mono"/>
                <a:cs typeface="Roboto Mono"/>
                <a:sym typeface="Roboto Mono"/>
              </a:rPr>
              <a:t>    dot_product = np.dot(vec1, vec2)</a:t>
            </a:r>
            <a:r>
              <a:rPr lang="en-US" b="false" i="false" strike="noStrike" u="none" sz="1300">
                <a:solidFill>
                  <a:srgbClr val="1F2329"/>
                </a:solidFill>
                <a:latin typeface="Roboto Mono"/>
                <a:ea typeface="Roboto Mono"/>
                <a:cs typeface="Roboto Mono"/>
                <a:sym typeface="Roboto Mono"/>
              </a:rPr>
              <a:t/>
            </a:r>
          </a:p>
          <a:p>
            <a:pPr algn="l" indent="0">
              <a:lnSpc>
                <a:spcPct val="125000"/>
              </a:lnSpc>
            </a:pPr>
            <a:r>
              <a:rPr lang="en-US" b="false" i="false" strike="noStrike" u="none" sz="1300">
                <a:solidFill>
                  <a:srgbClr val="333333"/>
                </a:solidFill>
                <a:latin typeface="Roboto Mono"/>
                <a:ea typeface="Roboto Mono"/>
                <a:cs typeface="Roboto Mono"/>
                <a:sym typeface="Roboto Mono"/>
              </a:rPr>
              <a:t>    norm1 = np.linalg.norm(vec1)</a:t>
            </a:r>
            <a:r>
              <a:rPr lang="en-US" b="false" i="false" strike="noStrike" u="none" sz="1300">
                <a:solidFill>
                  <a:srgbClr val="1F2329"/>
                </a:solidFill>
                <a:latin typeface="Roboto Mono"/>
                <a:ea typeface="Roboto Mono"/>
                <a:cs typeface="Roboto Mono"/>
                <a:sym typeface="Roboto Mono"/>
              </a:rPr>
              <a:t/>
            </a:r>
          </a:p>
          <a:p>
            <a:pPr algn="l" indent="0">
              <a:lnSpc>
                <a:spcPct val="125000"/>
              </a:lnSpc>
            </a:pPr>
            <a:r>
              <a:rPr lang="en-US" b="false" i="false" strike="noStrike" u="none" sz="1300">
                <a:solidFill>
                  <a:srgbClr val="333333"/>
                </a:solidFill>
                <a:latin typeface="Roboto Mono"/>
                <a:ea typeface="Roboto Mono"/>
                <a:cs typeface="Roboto Mono"/>
                <a:sym typeface="Roboto Mono"/>
              </a:rPr>
              <a:t>    norm2 = np.linalg.norm(vec2)</a:t>
            </a:r>
            <a:r>
              <a:rPr lang="en-US" b="false" i="false" strike="noStrike" u="none" sz="1300">
                <a:solidFill>
                  <a:srgbClr val="1F2329"/>
                </a:solidFill>
                <a:latin typeface="Roboto Mono"/>
                <a:ea typeface="Roboto Mono"/>
                <a:cs typeface="Roboto Mono"/>
                <a:sym typeface="Roboto Mono"/>
              </a:rPr>
              <a:t/>
            </a:r>
          </a:p>
          <a:p>
            <a:pPr algn="l" indent="0">
              <a:lnSpc>
                <a:spcPct val="125000"/>
              </a:lnSpc>
            </a:pPr>
            <a:r>
              <a:rPr lang="en-US" b="false" i="false" strike="noStrike" u="none" sz="1300">
                <a:solidFill>
                  <a:srgbClr val="C678DD"/>
                </a:solidFill>
                <a:latin typeface="Roboto Mono"/>
                <a:ea typeface="Roboto Mono"/>
                <a:cs typeface="Roboto Mono"/>
                <a:sym typeface="Roboto Mono"/>
              </a:rPr>
              <a:t>    if</a:t>
            </a:r>
            <a:r>
              <a:rPr lang="en-US" b="false" i="false" strike="noStrike" u="none" sz="1300">
                <a:solidFill>
                  <a:srgbClr val="333333"/>
                </a:solidFill>
                <a:latin typeface="Roboto Mono"/>
                <a:ea typeface="Roboto Mono"/>
                <a:cs typeface="Roboto Mono"/>
                <a:sym typeface="Roboto Mono"/>
              </a:rPr>
              <a:t> norm1 == 0</a:t>
            </a:r>
            <a:r>
              <a:rPr lang="en-US" b="false" i="false" strike="noStrike" u="none" sz="1300">
                <a:solidFill>
                  <a:srgbClr val="C678DD"/>
                </a:solidFill>
                <a:latin typeface="Roboto Mono"/>
                <a:ea typeface="Roboto Mono"/>
                <a:cs typeface="Roboto Mono"/>
                <a:sym typeface="Roboto Mono"/>
              </a:rPr>
              <a:t> or</a:t>
            </a:r>
            <a:r>
              <a:rPr lang="en-US" b="false" i="false" strike="noStrike" u="none" sz="1300">
                <a:solidFill>
                  <a:srgbClr val="333333"/>
                </a:solidFill>
                <a:latin typeface="Roboto Mono"/>
                <a:ea typeface="Roboto Mono"/>
                <a:cs typeface="Roboto Mono"/>
                <a:sym typeface="Roboto Mono"/>
              </a:rPr>
              <a:t> norm2 == 0:</a:t>
            </a:r>
            <a:r>
              <a:rPr lang="en-US" b="false" i="false" strike="noStrike" u="none" sz="1300">
                <a:solidFill>
                  <a:srgbClr val="1F2329"/>
                </a:solidFill>
                <a:latin typeface="Roboto Mono"/>
                <a:ea typeface="Roboto Mono"/>
                <a:cs typeface="Roboto Mono"/>
                <a:sym typeface="Roboto Mono"/>
              </a:rPr>
              <a:t/>
            </a:r>
          </a:p>
          <a:p>
            <a:pPr algn="l" indent="0">
              <a:lnSpc>
                <a:spcPct val="125000"/>
              </a:lnSpc>
            </a:pPr>
            <a:r>
              <a:rPr lang="en-US" b="false" i="false" strike="noStrike" u="none" sz="1300">
                <a:solidFill>
                  <a:srgbClr val="C678DD"/>
                </a:solidFill>
                <a:latin typeface="Roboto Mono"/>
                <a:ea typeface="Roboto Mono"/>
                <a:cs typeface="Roboto Mono"/>
                <a:sym typeface="Roboto Mono"/>
              </a:rPr>
              <a:t>        return</a:t>
            </a:r>
            <a:r>
              <a:rPr lang="en-US" b="false" i="false" strike="noStrike" u="none" sz="1300">
                <a:solidFill>
                  <a:srgbClr val="D19A66"/>
                </a:solidFill>
                <a:latin typeface="Roboto Mono"/>
                <a:ea typeface="Roboto Mono"/>
                <a:cs typeface="Roboto Mono"/>
                <a:sym typeface="Roboto Mono"/>
              </a:rPr>
              <a:t> 0.0</a:t>
            </a:r>
            <a:r>
              <a:rPr lang="en-US" b="false" i="false" strike="noStrike" u="none" sz="1300">
                <a:solidFill>
                  <a:srgbClr val="1F2329"/>
                </a:solidFill>
                <a:latin typeface="Roboto Mono"/>
                <a:ea typeface="Roboto Mono"/>
                <a:cs typeface="Roboto Mono"/>
                <a:sym typeface="Roboto Mono"/>
              </a:rPr>
              <a:t/>
            </a:r>
          </a:p>
          <a:p>
            <a:pPr algn="l" indent="0">
              <a:lnSpc>
                <a:spcPct val="125000"/>
              </a:lnSpc>
            </a:pPr>
            <a:r>
              <a:rPr lang="en-US" b="false" i="false" strike="noStrike" u="none" sz="1300">
                <a:solidFill>
                  <a:srgbClr val="C678DD"/>
                </a:solidFill>
                <a:latin typeface="Roboto Mono"/>
                <a:ea typeface="Roboto Mono"/>
                <a:cs typeface="Roboto Mono"/>
                <a:sym typeface="Roboto Mono"/>
              </a:rPr>
              <a:t>    return</a:t>
            </a:r>
            <a:r>
              <a:rPr lang="en-US" b="false" i="false" strike="noStrike" u="none" sz="1300">
                <a:solidFill>
                  <a:srgbClr val="333333"/>
                </a:solidFill>
                <a:latin typeface="Roboto Mono"/>
                <a:ea typeface="Roboto Mono"/>
                <a:cs typeface="Roboto Mono"/>
                <a:sym typeface="Roboto Mono"/>
              </a:rPr>
              <a:t> dot_product / (norm1 * norm2)</a:t>
            </a:r>
          </a:p>
        </p:txBody>
      </p:sp>
      <p:pic>
        <p:nvPicPr>
          <p:cNvPr name="Picture 10" id="10"/>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922000" y="1752600"/>
            <a:ext cx="304800" cy="30480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2F2F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7AFF"/>
                </a:solidFill>
                <a:latin typeface="Noto Sans SC"/>
                <a:ea typeface="Noto Sans SC"/>
                <a:cs typeface="Noto Sans SC"/>
                <a:sym typeface="Noto Sans SC"/>
              </a:rPr>
              <a:t>参考文献示例</a:t>
            </a:r>
            <a:endParaRPr lang="en-US" sz="1100"/>
          </a:p>
        </p:txBody>
      </p:sp>
      <p:sp>
        <p:nvSpPr>
          <p:cNvPr name="AutoShape 3" id="3"/>
          <p:cNvSpPr/>
          <p:nvPr/>
        </p:nvSpPr>
        <p:spPr>
          <a:xfrm rot="0" flipH="false" flipV="false">
            <a:off x="762000" y="1651000"/>
            <a:ext cx="10668000" cy="1397000"/>
          </a:xfrm>
          <a:prstGeom prst="roundRect">
            <a:avLst>
              <a:gd name="adj" fmla="val 9090"/>
            </a:avLst>
          </a:prstGeom>
          <a:solidFill>
            <a:srgbClr val="FFFFFF">
              <a:alpha val="100000"/>
            </a:srgbClr>
          </a:solidFill>
          <a:ln w="25400" cmpd="sng" cap="flat">
            <a:noFill/>
            <a:prstDash val="solid"/>
            <a:round/>
          </a:ln>
          <a:effectLst>
            <a:outerShdw dir="5400000" dist="50800" blurRad="127000" algn="tl" rotWithShape="false">
              <a:srgbClr val="000000">
                <a:alpha val="8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1968500"/>
            <a:ext cx="304800" cy="304800"/>
          </a:xfrm>
          <a:prstGeom prst="rect">
            <a:avLst/>
          </a:prstGeom>
        </p:spPr>
      </p:pic>
      <p:sp>
        <p:nvSpPr>
          <p:cNvPr name="AutoShape 5" id="5"/>
          <p:cNvSpPr/>
          <p:nvPr/>
        </p:nvSpPr>
        <p:spPr>
          <a:xfrm rot="0" flipH="false" flipV="false">
            <a:off x="1524000" y="1930400"/>
            <a:ext cx="9525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[1] GroupLens: An open architecture for collaborative filtering of netnews</a:t>
            </a:r>
            <a:endParaRPr lang="en-US" sz="1100"/>
          </a:p>
        </p:txBody>
      </p:sp>
      <p:cxnSp>
        <p:nvCxnSpPr>
          <p:cNvPr name="Connector 6" id="6"/>
          <p:cNvCxnSpPr/>
          <p:nvPr/>
        </p:nvCxnSpPr>
        <p:spPr>
          <a:xfrm rot="-4340" flipH="false" flipV="false">
            <a:off x="1066804" y="2330450"/>
            <a:ext cx="10058400" cy="12700"/>
          </a:xfrm>
          <a:prstGeom prst="line">
            <a:avLst/>
          </a:prstGeom>
          <a:solidFill>
            <a:srgbClr val="DEE0E3">
              <a:alpha val="100000"/>
            </a:srgbClr>
          </a:solidFill>
          <a:ln w="12700" cmpd="sng" cap="flat">
            <a:solidFill>
              <a:srgbClr val="F0F0F0">
                <a:alpha val="100000"/>
              </a:srgbClr>
            </a:solidFill>
            <a:prstDash val="solid"/>
            <a:round/>
            <a:headEnd type="none" w="med" len="med"/>
            <a:tailEnd type="none" w="med" len="med"/>
          </a:ln>
        </p:spPr>
      </p:cxnSp>
      <p:sp>
        <p:nvSpPr>
          <p:cNvPr name="AutoShape 7" id="7"/>
          <p:cNvSpPr/>
          <p:nvPr/>
        </p:nvSpPr>
        <p:spPr>
          <a:xfrm rot="0" flipH="false" flipV="false">
            <a:off x="1066800" y="2413000"/>
            <a:ext cx="100584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66666"/>
                </a:solidFill>
                <a:latin typeface="Noto Sans SC"/>
                <a:ea typeface="Noto Sans SC"/>
                <a:cs typeface="Noto Sans SC"/>
                <a:sym typeface="Noto Sans SC"/>
              </a:rPr>
              <a:t>Resnick, P., et al. (1994). Proceedings of the 1994 ACM conference on Computer supported cooperative work (pp. 175-186).</a:t>
            </a:r>
            <a:endParaRPr lang="en-US" sz="1100"/>
          </a:p>
        </p:txBody>
      </p:sp>
      <p:sp>
        <p:nvSpPr>
          <p:cNvPr name="AutoShape 8" id="8"/>
          <p:cNvSpPr/>
          <p:nvPr/>
        </p:nvSpPr>
        <p:spPr>
          <a:xfrm rot="0" flipH="false" flipV="false">
            <a:off x="762000" y="3238500"/>
            <a:ext cx="10668000" cy="1397000"/>
          </a:xfrm>
          <a:prstGeom prst="roundRect">
            <a:avLst>
              <a:gd name="adj" fmla="val 9090"/>
            </a:avLst>
          </a:prstGeom>
          <a:solidFill>
            <a:srgbClr val="FFFFFF">
              <a:alpha val="100000"/>
            </a:srgbClr>
          </a:solidFill>
          <a:ln w="25400" cmpd="sng" cap="flat">
            <a:noFill/>
            <a:prstDash val="solid"/>
            <a:round/>
          </a:ln>
          <a:effectLst>
            <a:outerShdw dir="5400000" dist="50800" blurRad="127000" algn="tl" rotWithShape="false">
              <a:srgbClr val="000000">
                <a:alpha val="8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3556000"/>
            <a:ext cx="304800" cy="304800"/>
          </a:xfrm>
          <a:prstGeom prst="rect">
            <a:avLst/>
          </a:prstGeom>
        </p:spPr>
      </p:pic>
      <p:sp>
        <p:nvSpPr>
          <p:cNvPr name="AutoShape 10" id="10"/>
          <p:cNvSpPr/>
          <p:nvPr/>
        </p:nvSpPr>
        <p:spPr>
          <a:xfrm rot="0" flipH="false" flipV="false">
            <a:off x="1524000" y="3517900"/>
            <a:ext cx="9525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[2] Matrix factorization techniques for recommender systems</a:t>
            </a:r>
            <a:endParaRPr lang="en-US" sz="1100"/>
          </a:p>
        </p:txBody>
      </p:sp>
      <p:cxnSp>
        <p:nvCxnSpPr>
          <p:cNvPr name="Connector 11" id="11"/>
          <p:cNvCxnSpPr/>
          <p:nvPr/>
        </p:nvCxnSpPr>
        <p:spPr>
          <a:xfrm rot="-4340" flipH="false" flipV="false">
            <a:off x="1066804" y="3917950"/>
            <a:ext cx="10058400" cy="12700"/>
          </a:xfrm>
          <a:prstGeom prst="line">
            <a:avLst/>
          </a:prstGeom>
          <a:solidFill>
            <a:srgbClr val="DEE0E3">
              <a:alpha val="100000"/>
            </a:srgbClr>
          </a:solidFill>
          <a:ln w="12700" cmpd="sng" cap="flat">
            <a:solidFill>
              <a:srgbClr val="F0F0F0">
                <a:alpha val="100000"/>
              </a:srgbClr>
            </a:solidFill>
            <a:prstDash val="solid"/>
            <a:round/>
            <a:headEnd type="none" w="med" len="med"/>
            <a:tailEnd type="none" w="med" len="med"/>
          </a:ln>
        </p:spPr>
      </p:cxnSp>
      <p:sp>
        <p:nvSpPr>
          <p:cNvPr name="AutoShape 12" id="12"/>
          <p:cNvSpPr/>
          <p:nvPr/>
        </p:nvSpPr>
        <p:spPr>
          <a:xfrm rot="0" flipH="false" flipV="false">
            <a:off x="1066800" y="4000500"/>
            <a:ext cx="100584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66666"/>
                </a:solidFill>
                <a:latin typeface="Noto Sans SC"/>
                <a:ea typeface="Noto Sans SC"/>
                <a:cs typeface="Noto Sans SC"/>
                <a:sym typeface="Noto Sans SC"/>
              </a:rPr>
              <a:t>Koren, Y., Bell, R., &amp; Volinsky, C. (2009). Computer, 42(8), 30-37.</a:t>
            </a:r>
            <a:endParaRPr lang="en-US" sz="1100"/>
          </a:p>
        </p:txBody>
      </p:sp>
      <p:sp>
        <p:nvSpPr>
          <p:cNvPr name="AutoShape 13" id="13"/>
          <p:cNvSpPr/>
          <p:nvPr/>
        </p:nvSpPr>
        <p:spPr>
          <a:xfrm rot="0" flipH="false" flipV="false">
            <a:off x="762000" y="4826000"/>
            <a:ext cx="10668000" cy="1397000"/>
          </a:xfrm>
          <a:prstGeom prst="roundRect">
            <a:avLst>
              <a:gd name="adj" fmla="val 9090"/>
            </a:avLst>
          </a:prstGeom>
          <a:solidFill>
            <a:srgbClr val="FFFFFF">
              <a:alpha val="100000"/>
            </a:srgbClr>
          </a:solidFill>
          <a:ln w="25400" cmpd="sng" cap="flat">
            <a:noFill/>
            <a:prstDash val="solid"/>
            <a:round/>
          </a:ln>
          <a:effectLst>
            <a:outerShdw dir="5400000" dist="50800" blurRad="127000" algn="tl" rotWithShape="false">
              <a:srgbClr val="000000">
                <a:alpha val="8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5143500"/>
            <a:ext cx="304800" cy="304800"/>
          </a:xfrm>
          <a:prstGeom prst="rect">
            <a:avLst/>
          </a:prstGeom>
        </p:spPr>
      </p:pic>
      <p:sp>
        <p:nvSpPr>
          <p:cNvPr name="AutoShape 15" id="15"/>
          <p:cNvSpPr/>
          <p:nvPr/>
        </p:nvSpPr>
        <p:spPr>
          <a:xfrm rot="0" flipH="false" flipV="false">
            <a:off x="1524000" y="5105400"/>
            <a:ext cx="9525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[3] Neural collaborative filtering</a:t>
            </a:r>
            <a:endParaRPr lang="en-US" sz="1100"/>
          </a:p>
        </p:txBody>
      </p:sp>
      <p:cxnSp>
        <p:nvCxnSpPr>
          <p:cNvPr name="Connector 16" id="16"/>
          <p:cNvCxnSpPr/>
          <p:nvPr/>
        </p:nvCxnSpPr>
        <p:spPr>
          <a:xfrm rot="-4340" flipH="false" flipV="false">
            <a:off x="1066804" y="5505450"/>
            <a:ext cx="10058400" cy="12700"/>
          </a:xfrm>
          <a:prstGeom prst="line">
            <a:avLst/>
          </a:prstGeom>
          <a:solidFill>
            <a:srgbClr val="DEE0E3">
              <a:alpha val="100000"/>
            </a:srgbClr>
          </a:solidFill>
          <a:ln w="12700" cmpd="sng" cap="flat">
            <a:solidFill>
              <a:srgbClr val="F0F0F0">
                <a:alpha val="100000"/>
              </a:srgbClr>
            </a:solidFill>
            <a:prstDash val="solid"/>
            <a:round/>
            <a:headEnd type="none" w="med" len="med"/>
            <a:tailEnd type="none" w="med" len="med"/>
          </a:ln>
        </p:spPr>
      </p:cxnSp>
      <p:sp>
        <p:nvSpPr>
          <p:cNvPr name="AutoShape 17" id="17"/>
          <p:cNvSpPr/>
          <p:nvPr/>
        </p:nvSpPr>
        <p:spPr>
          <a:xfrm rot="0" flipH="false" flipV="false">
            <a:off x="1066800" y="5588000"/>
            <a:ext cx="100584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66666"/>
                </a:solidFill>
                <a:latin typeface="Noto Sans SC"/>
                <a:ea typeface="Noto Sans SC"/>
                <a:cs typeface="Noto Sans SC"/>
                <a:sym typeface="Noto Sans SC"/>
              </a:rPr>
              <a:t>He, X., et al. (2017). Proceedings of the 26th international conference on world wide web (pp. 173-182).</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2F2F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7AFF"/>
                </a:solidFill>
                <a:latin typeface="Noto Sans SC"/>
                <a:ea typeface="Noto Sans SC"/>
                <a:cs typeface="Noto Sans SC"/>
                <a:sym typeface="Noto Sans SC"/>
              </a:rPr>
              <a:t>算法块示例：基于用户的协同过滤推荐算法</a:t>
            </a:r>
            <a:endParaRPr lang="en-US" sz="1100"/>
          </a:p>
        </p:txBody>
      </p:sp>
      <p:sp>
        <p:nvSpPr>
          <p:cNvPr name="AutoShape 3" id="3"/>
          <p:cNvSpPr/>
          <p:nvPr/>
        </p:nvSpPr>
        <p:spPr>
          <a:xfrm rot="0" flipH="false" flipV="false">
            <a:off x="762000" y="1524000"/>
            <a:ext cx="5207000" cy="1016000"/>
          </a:xfrm>
          <a:prstGeom prst="roundRect">
            <a:avLst>
              <a:gd name="adj" fmla="val 12500"/>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778000"/>
            <a:ext cx="508000" cy="508000"/>
          </a:xfrm>
          <a:prstGeom prst="rect">
            <a:avLst/>
          </a:prstGeom>
        </p:spPr>
      </p:pic>
      <p:sp>
        <p:nvSpPr>
          <p:cNvPr name="AutoShape 5" id="5"/>
          <p:cNvSpPr/>
          <p:nvPr/>
        </p:nvSpPr>
        <p:spPr>
          <a:xfrm rot="0" flipH="false" flipV="false">
            <a:off x="1651000" y="16510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输入参数 (Input)</a:t>
            </a:r>
            <a:endParaRPr lang="en-US" sz="1100"/>
          </a:p>
        </p:txBody>
      </p:sp>
      <p:sp>
        <p:nvSpPr>
          <p:cNvPr name="AutoShape 6" id="6"/>
          <p:cNvSpPr/>
          <p:nvPr/>
        </p:nvSpPr>
        <p:spPr>
          <a:xfrm rot="0" flipH="false" flipV="false">
            <a:off x="1651000" y="1955800"/>
            <a:ext cx="4064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66666"/>
                </a:solidFill>
                <a:latin typeface="Noto Sans SC"/>
                <a:ea typeface="Noto Sans SC"/>
                <a:cs typeface="Noto Sans SC"/>
                <a:sym typeface="Noto Sans SC"/>
              </a:rPr>
              <a:t>用户-物品评分矩阵 R，目标用户 u，邻居数量 k</a:t>
            </a:r>
            <a:endParaRPr lang="en-US" sz="1100"/>
          </a:p>
        </p:txBody>
      </p:sp>
      <p:sp>
        <p:nvSpPr>
          <p:cNvPr name="AutoShape 7" id="7"/>
          <p:cNvSpPr/>
          <p:nvPr/>
        </p:nvSpPr>
        <p:spPr>
          <a:xfrm rot="0" flipH="false" flipV="false">
            <a:off x="6223000" y="1524000"/>
            <a:ext cx="5207000" cy="1016000"/>
          </a:xfrm>
          <a:prstGeom prst="roundRect">
            <a:avLst>
              <a:gd name="adj" fmla="val 12500"/>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77000" y="1778000"/>
            <a:ext cx="508000" cy="508000"/>
          </a:xfrm>
          <a:prstGeom prst="rect">
            <a:avLst/>
          </a:prstGeom>
        </p:spPr>
      </p:pic>
      <p:sp>
        <p:nvSpPr>
          <p:cNvPr name="AutoShape 9" id="9"/>
          <p:cNvSpPr/>
          <p:nvPr/>
        </p:nvSpPr>
        <p:spPr>
          <a:xfrm rot="0" flipH="false" flipV="false">
            <a:off x="7112000" y="16510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输出结果 (Output)</a:t>
            </a:r>
            <a:endParaRPr lang="en-US" sz="1100"/>
          </a:p>
        </p:txBody>
      </p:sp>
      <p:sp>
        <p:nvSpPr>
          <p:cNvPr name="AutoShape 10" id="10"/>
          <p:cNvSpPr/>
          <p:nvPr/>
        </p:nvSpPr>
        <p:spPr>
          <a:xfrm rot="0" flipH="false" flipV="false">
            <a:off x="7112000" y="1955800"/>
            <a:ext cx="4064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66666"/>
                </a:solidFill>
                <a:latin typeface="Noto Sans SC"/>
                <a:ea typeface="Noto Sans SC"/>
                <a:cs typeface="Noto Sans SC"/>
                <a:sym typeface="Noto Sans SC"/>
              </a:rPr>
              <a:t>目标用户 u 的推荐物品列表 (Top-N)</a:t>
            </a:r>
            <a:endParaRPr lang="en-US" sz="1100"/>
          </a:p>
        </p:txBody>
      </p:sp>
      <p:sp>
        <p:nvSpPr>
          <p:cNvPr name="AutoShape 11" id="11"/>
          <p:cNvSpPr/>
          <p:nvPr/>
        </p:nvSpPr>
        <p:spPr>
          <a:xfrm rot="0" flipH="false" flipV="false">
            <a:off x="762000" y="2794000"/>
            <a:ext cx="5207000" cy="1714500"/>
          </a:xfrm>
          <a:prstGeom prst="roundRect">
            <a:avLst>
              <a:gd name="adj" fmla="val 7407"/>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2984500"/>
            <a:ext cx="406400" cy="406400"/>
          </a:xfrm>
          <a:prstGeom prst="rect">
            <a:avLst/>
          </a:prstGeom>
        </p:spPr>
      </p:pic>
      <p:sp>
        <p:nvSpPr>
          <p:cNvPr name="AutoShape 13" id="13"/>
          <p:cNvSpPr/>
          <p:nvPr/>
        </p:nvSpPr>
        <p:spPr>
          <a:xfrm rot="0" flipH="false" flipV="false">
            <a:off x="1524000" y="2984500"/>
            <a:ext cx="4191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01. 计算相似度</a:t>
            </a:r>
            <a:endParaRPr lang="en-US" sz="1100"/>
          </a:p>
        </p:txBody>
      </p:sp>
      <p:cxnSp>
        <p:nvCxnSpPr>
          <p:cNvPr name="Connector 14" id="14"/>
          <p:cNvCxnSpPr/>
          <p:nvPr/>
        </p:nvCxnSpPr>
        <p:spPr>
          <a:xfrm rot="-9291" flipH="false" flipV="false">
            <a:off x="1016009" y="3422650"/>
            <a:ext cx="4699000" cy="12700"/>
          </a:xfrm>
          <a:prstGeom prst="straightConnector1">
            <a:avLst/>
          </a:prstGeom>
          <a:solidFill>
            <a:srgbClr val="DEE0E3">
              <a:alpha val="100000"/>
            </a:srgbClr>
          </a:solidFill>
          <a:ln w="12700" cmpd="sng" cap="flat">
            <a:solidFill>
              <a:srgbClr val="F0F0F0">
                <a:alpha val="100000"/>
              </a:srgbClr>
            </a:solidFill>
            <a:prstDash val="solid"/>
            <a:round/>
            <a:headEnd type="none" w="med" len="med"/>
            <a:tailEnd type="none" w="med" len="med"/>
          </a:ln>
        </p:spPr>
      </p:cxnSp>
      <p:sp>
        <p:nvSpPr>
          <p:cNvPr name="AutoShape 15" id="15"/>
          <p:cNvSpPr/>
          <p:nvPr/>
        </p:nvSpPr>
        <p:spPr>
          <a:xfrm rot="0" flipH="false" flipV="false">
            <a:off x="1016000" y="3530600"/>
            <a:ext cx="469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66666"/>
                </a:solidFill>
                <a:latin typeface="Noto Sans SC"/>
                <a:ea typeface="Noto Sans SC"/>
                <a:cs typeface="Noto Sans SC"/>
                <a:sym typeface="Noto Sans SC"/>
              </a:rPr>
              <a:t>遍历所有用户 v，计算用户 u 与 v 的相似度 sim(u, v)，通常使用余弦相似度或皮尔逊相关系数。</a:t>
            </a:r>
            <a:endParaRPr lang="en-US" sz="1100"/>
          </a:p>
        </p:txBody>
      </p:sp>
      <p:sp>
        <p:nvSpPr>
          <p:cNvPr name="AutoShape 16" id="16"/>
          <p:cNvSpPr/>
          <p:nvPr/>
        </p:nvSpPr>
        <p:spPr>
          <a:xfrm rot="0" flipH="false" flipV="false">
            <a:off x="6223000" y="2794000"/>
            <a:ext cx="5207000" cy="1714500"/>
          </a:xfrm>
          <a:prstGeom prst="roundRect">
            <a:avLst>
              <a:gd name="adj" fmla="val 7407"/>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77000" y="2984500"/>
            <a:ext cx="406400" cy="406400"/>
          </a:xfrm>
          <a:prstGeom prst="rect">
            <a:avLst/>
          </a:prstGeom>
        </p:spPr>
      </p:pic>
      <p:sp>
        <p:nvSpPr>
          <p:cNvPr name="AutoShape 18" id="18"/>
          <p:cNvSpPr/>
          <p:nvPr/>
        </p:nvSpPr>
        <p:spPr>
          <a:xfrm rot="0" flipH="false" flipV="false">
            <a:off x="6985000" y="2984500"/>
            <a:ext cx="4191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02. 选择邻居</a:t>
            </a:r>
            <a:endParaRPr lang="en-US" sz="1100"/>
          </a:p>
        </p:txBody>
      </p:sp>
      <p:cxnSp>
        <p:nvCxnSpPr>
          <p:cNvPr name="Connector 19" id="19"/>
          <p:cNvCxnSpPr/>
          <p:nvPr/>
        </p:nvCxnSpPr>
        <p:spPr>
          <a:xfrm rot="-9291" flipH="false" flipV="false">
            <a:off x="6477009" y="3422650"/>
            <a:ext cx="4699000" cy="12700"/>
          </a:xfrm>
          <a:prstGeom prst="straightConnector1">
            <a:avLst/>
          </a:prstGeom>
          <a:solidFill>
            <a:srgbClr val="DEE0E3">
              <a:alpha val="100000"/>
            </a:srgbClr>
          </a:solidFill>
          <a:ln w="12700" cmpd="sng" cap="flat">
            <a:solidFill>
              <a:srgbClr val="F0F0F0">
                <a:alpha val="100000"/>
              </a:srgbClr>
            </a:solidFill>
            <a:prstDash val="solid"/>
            <a:round/>
            <a:headEnd type="none" w="med" len="med"/>
            <a:tailEnd type="none" w="med" len="med"/>
          </a:ln>
        </p:spPr>
      </p:cxnSp>
      <p:sp>
        <p:nvSpPr>
          <p:cNvPr name="AutoShape 20" id="20"/>
          <p:cNvSpPr/>
          <p:nvPr/>
        </p:nvSpPr>
        <p:spPr>
          <a:xfrm rot="0" flipH="false" flipV="false">
            <a:off x="6477000" y="3530600"/>
            <a:ext cx="469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66666"/>
                </a:solidFill>
                <a:latin typeface="Noto Sans SC"/>
                <a:ea typeface="Noto Sans SC"/>
                <a:cs typeface="Noto Sans SC"/>
                <a:sym typeface="Noto Sans SC"/>
              </a:rPr>
              <a:t>根据相似度排序，选取与目标用户 u 最相似的前 k 个用户，构成邻居集合 N(u)。</a:t>
            </a:r>
            <a:endParaRPr lang="en-US" sz="1100"/>
          </a:p>
        </p:txBody>
      </p:sp>
      <p:sp>
        <p:nvSpPr>
          <p:cNvPr name="AutoShape 21" id="21"/>
          <p:cNvSpPr/>
          <p:nvPr/>
        </p:nvSpPr>
        <p:spPr>
          <a:xfrm rot="0" flipH="false" flipV="false">
            <a:off x="762000" y="4699000"/>
            <a:ext cx="5207000" cy="1714500"/>
          </a:xfrm>
          <a:prstGeom prst="roundRect">
            <a:avLst>
              <a:gd name="adj" fmla="val 7407"/>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016000" y="4889500"/>
            <a:ext cx="406400" cy="406400"/>
          </a:xfrm>
          <a:prstGeom prst="rect">
            <a:avLst/>
          </a:prstGeom>
        </p:spPr>
      </p:pic>
      <p:sp>
        <p:nvSpPr>
          <p:cNvPr name="AutoShape 23" id="23"/>
          <p:cNvSpPr/>
          <p:nvPr/>
        </p:nvSpPr>
        <p:spPr>
          <a:xfrm rot="0" flipH="false" flipV="false">
            <a:off x="1524000" y="4889500"/>
            <a:ext cx="4191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03. 生成推荐 (预测评分)</a:t>
            </a:r>
            <a:endParaRPr lang="en-US" sz="1100"/>
          </a:p>
        </p:txBody>
      </p:sp>
      <p:cxnSp>
        <p:nvCxnSpPr>
          <p:cNvPr name="Connector 24" id="24"/>
          <p:cNvCxnSpPr/>
          <p:nvPr/>
        </p:nvCxnSpPr>
        <p:spPr>
          <a:xfrm rot="-9291" flipH="false" flipV="false">
            <a:off x="1016009" y="5327650"/>
            <a:ext cx="4699000" cy="12700"/>
          </a:xfrm>
          <a:prstGeom prst="straightConnector1">
            <a:avLst/>
          </a:prstGeom>
          <a:solidFill>
            <a:srgbClr val="DEE0E3">
              <a:alpha val="100000"/>
            </a:srgbClr>
          </a:solidFill>
          <a:ln w="12700" cmpd="sng" cap="flat">
            <a:solidFill>
              <a:srgbClr val="F0F0F0">
                <a:alpha val="100000"/>
              </a:srgbClr>
            </a:solidFill>
            <a:prstDash val="solid"/>
            <a:round/>
            <a:headEnd type="none" w="med" len="med"/>
            <a:tailEnd type="none" w="med" len="med"/>
          </a:ln>
        </p:spPr>
      </p:cxnSp>
      <p:sp>
        <p:nvSpPr>
          <p:cNvPr name="AutoShape 25" id="25"/>
          <p:cNvSpPr/>
          <p:nvPr/>
        </p:nvSpPr>
        <p:spPr>
          <a:xfrm rot="0" flipH="false" flipV="false">
            <a:off x="1016000" y="5435600"/>
            <a:ext cx="469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66666"/>
                </a:solidFill>
                <a:latin typeface="Noto Sans SC"/>
                <a:ea typeface="Noto Sans SC"/>
                <a:cs typeface="Noto Sans SC"/>
                <a:sym typeface="Noto Sans SC"/>
              </a:rPr>
              <a:t>基于邻居集合计算预测评分：</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007AFF"/>
                </a:solidFill>
                <a:latin typeface="Noto Sans SC"/>
                <a:ea typeface="Noto Sans SC"/>
                <a:cs typeface="Noto Sans SC"/>
                <a:sym typeface="Noto Sans SC"/>
              </a:rPr>
              <a:t>r̂(u,i) = r̄u + Σ[sim(u,v) * (r(v,i) - r̄v)] / Σ|sim(u,v)|</a:t>
            </a:r>
          </a:p>
        </p:txBody>
      </p:sp>
      <p:sp>
        <p:nvSpPr>
          <p:cNvPr name="AutoShape 26" id="26"/>
          <p:cNvSpPr/>
          <p:nvPr/>
        </p:nvSpPr>
        <p:spPr>
          <a:xfrm rot="0" flipH="false" flipV="false">
            <a:off x="6223000" y="4699000"/>
            <a:ext cx="5207000" cy="1714500"/>
          </a:xfrm>
          <a:prstGeom prst="roundRect">
            <a:avLst>
              <a:gd name="adj" fmla="val 7407"/>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27" id="27"/>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6477000" y="4889500"/>
            <a:ext cx="406400" cy="406400"/>
          </a:xfrm>
          <a:prstGeom prst="rect">
            <a:avLst/>
          </a:prstGeom>
        </p:spPr>
      </p:pic>
      <p:sp>
        <p:nvSpPr>
          <p:cNvPr name="AutoShape 28" id="28"/>
          <p:cNvSpPr/>
          <p:nvPr/>
        </p:nvSpPr>
        <p:spPr>
          <a:xfrm rot="0" flipH="false" flipV="false">
            <a:off x="6985000" y="4889500"/>
            <a:ext cx="4191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04. 排序输出</a:t>
            </a:r>
            <a:endParaRPr lang="en-US" sz="1100"/>
          </a:p>
        </p:txBody>
      </p:sp>
      <p:cxnSp>
        <p:nvCxnSpPr>
          <p:cNvPr name="Connector 29" id="29"/>
          <p:cNvCxnSpPr/>
          <p:nvPr/>
        </p:nvCxnSpPr>
        <p:spPr>
          <a:xfrm rot="-9291" flipH="false" flipV="false">
            <a:off x="6477009" y="5327650"/>
            <a:ext cx="4699000" cy="12700"/>
          </a:xfrm>
          <a:prstGeom prst="straightConnector1">
            <a:avLst/>
          </a:prstGeom>
          <a:solidFill>
            <a:srgbClr val="DEE0E3">
              <a:alpha val="100000"/>
            </a:srgbClr>
          </a:solidFill>
          <a:ln w="12700" cmpd="sng" cap="flat">
            <a:solidFill>
              <a:srgbClr val="F0F0F0">
                <a:alpha val="100000"/>
              </a:srgbClr>
            </a:solidFill>
            <a:prstDash val="solid"/>
            <a:round/>
            <a:headEnd type="none" w="med" len="med"/>
            <a:tailEnd type="none" w="med" len="med"/>
          </a:ln>
        </p:spPr>
      </p:cxnSp>
      <p:sp>
        <p:nvSpPr>
          <p:cNvPr name="AutoShape 30" id="30"/>
          <p:cNvSpPr/>
          <p:nvPr/>
        </p:nvSpPr>
        <p:spPr>
          <a:xfrm rot="0" flipH="false" flipV="false">
            <a:off x="6477000" y="5435600"/>
            <a:ext cx="469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66666"/>
                </a:solidFill>
                <a:latin typeface="Noto Sans SC"/>
                <a:ea typeface="Noto Sans SC"/>
                <a:cs typeface="Noto Sans SC"/>
                <a:sym typeface="Noto Sans SC"/>
              </a:rPr>
              <a:t>将预测评分最高的前 N 个未评分物品进行排序，生成最终的推荐列表。</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2F2F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7AFF"/>
                </a:solidFill>
                <a:latin typeface="Noto Sans SC"/>
                <a:ea typeface="Noto Sans SC"/>
                <a:cs typeface="Noto Sans SC"/>
                <a:sym typeface="Noto Sans SC"/>
              </a:rPr>
              <a:t>列表元素示例</a:t>
            </a:r>
            <a:endParaRPr lang="en-US" sz="1100"/>
          </a:p>
        </p:txBody>
      </p:sp>
      <p:sp>
        <p:nvSpPr>
          <p:cNvPr name="AutoShape 3" id="3"/>
          <p:cNvSpPr/>
          <p:nvPr/>
        </p:nvSpPr>
        <p:spPr>
          <a:xfrm rot="0" flipH="false" flipV="false">
            <a:off x="762000" y="1651000"/>
            <a:ext cx="5080000" cy="4318000"/>
          </a:xfrm>
          <a:prstGeom prst="roundRect">
            <a:avLst>
              <a:gd name="adj" fmla="val 2941"/>
            </a:avLst>
          </a:prstGeom>
          <a:solidFill>
            <a:srgbClr val="FFFFFF">
              <a:alpha val="100000"/>
            </a:srgbClr>
          </a:solidFill>
          <a:ln w="25400" cmpd="sng" cap="flat">
            <a:noFill/>
            <a:prstDash val="solid"/>
            <a:round/>
          </a:ln>
          <a:effectLst>
            <a:outerShdw dir="5400000" dist="50800" blurRad="127000" algn="tl" rotWithShape="false">
              <a:srgbClr val="000000">
                <a:alpha val="8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1955800"/>
            <a:ext cx="355600" cy="355600"/>
          </a:xfrm>
          <a:prstGeom prst="rect">
            <a:avLst/>
          </a:prstGeom>
        </p:spPr>
      </p:pic>
      <p:sp>
        <p:nvSpPr>
          <p:cNvPr name="AutoShape 5" id="5"/>
          <p:cNvSpPr/>
          <p:nvPr/>
        </p:nvSpPr>
        <p:spPr>
          <a:xfrm rot="0" flipH="false" flipV="false">
            <a:off x="1524000" y="1930400"/>
            <a:ext cx="40640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333333"/>
                </a:solidFill>
                <a:latin typeface="Noto Sans SC"/>
                <a:ea typeface="Noto Sans SC"/>
                <a:cs typeface="Noto Sans SC"/>
                <a:sym typeface="Noto Sans SC"/>
              </a:rPr>
              <a:t>推荐系统的主要优点</a:t>
            </a:r>
            <a:endParaRPr lang="en-US" sz="1100"/>
          </a:p>
        </p:txBody>
      </p:sp>
      <p:cxnSp>
        <p:nvCxnSpPr>
          <p:cNvPr name="Connector 6" id="6"/>
          <p:cNvCxnSpPr/>
          <p:nvPr/>
        </p:nvCxnSpPr>
        <p:spPr>
          <a:xfrm rot="-9766" flipH="false" flipV="false">
            <a:off x="1066809" y="2406650"/>
            <a:ext cx="4470400" cy="12700"/>
          </a:xfrm>
          <a:prstGeom prst="straightConnector1">
            <a:avLst/>
          </a:prstGeom>
          <a:solidFill>
            <a:srgbClr val="DEE0E3">
              <a:alpha val="100000"/>
            </a:srgbClr>
          </a:solidFill>
          <a:ln w="12700" cmpd="sng" cap="flat">
            <a:solidFill>
              <a:srgbClr val="E6E6E6">
                <a:alpha val="100000"/>
              </a:srgbClr>
            </a:solidFill>
            <a:prstDash val="solid"/>
            <a:round/>
            <a:headEnd type="none" w="med" len="med"/>
            <a:tailEnd type="none" w="med" len="med"/>
          </a:ln>
        </p:spPr>
      </p:cxnSp>
      <p:sp>
        <p:nvSpPr>
          <p:cNvPr name="AutoShape 7" id="7"/>
          <p:cNvSpPr/>
          <p:nvPr/>
        </p:nvSpPr>
        <p:spPr>
          <a:xfrm rot="0" flipH="false" flipV="false">
            <a:off x="1066800" y="2667000"/>
            <a:ext cx="304800" cy="304800"/>
          </a:xfrm>
          <a:prstGeom prst="ellipse">
            <a:avLst/>
          </a:prstGeom>
          <a:solidFill>
            <a:srgbClr val="007AFF">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066800" y="2667000"/>
            <a:ext cx="3048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007AFF"/>
                </a:solidFill>
                <a:latin typeface="Noto Sans SC"/>
                <a:ea typeface="Noto Sans SC"/>
                <a:cs typeface="Noto Sans SC"/>
                <a:sym typeface="Noto Sans SC"/>
              </a:rPr>
              <a:t>1</a:t>
            </a:r>
            <a:endParaRPr lang="en-US" sz="1100"/>
          </a:p>
        </p:txBody>
      </p:sp>
      <p:sp>
        <p:nvSpPr>
          <p:cNvPr name="AutoShape 9" id="9"/>
          <p:cNvSpPr/>
          <p:nvPr/>
        </p:nvSpPr>
        <p:spPr>
          <a:xfrm rot="0" flipH="false" flipV="false">
            <a:off x="1473200" y="2641600"/>
            <a:ext cx="41148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555555"/>
                </a:solidFill>
                <a:latin typeface="Noto Sans SC"/>
                <a:ea typeface="Noto Sans SC"/>
                <a:cs typeface="Noto Sans SC"/>
                <a:sym typeface="Noto Sans SC"/>
              </a:rPr>
              <a:t>提升用户体验，帮助用户发现感兴趣的内容。</a:t>
            </a:r>
            <a:endParaRPr lang="en-US" sz="1100"/>
          </a:p>
        </p:txBody>
      </p:sp>
      <p:sp>
        <p:nvSpPr>
          <p:cNvPr name="AutoShape 10" id="10"/>
          <p:cNvSpPr/>
          <p:nvPr/>
        </p:nvSpPr>
        <p:spPr>
          <a:xfrm rot="0" flipH="false" flipV="false">
            <a:off x="1066800" y="3238500"/>
            <a:ext cx="304800" cy="304800"/>
          </a:xfrm>
          <a:prstGeom prst="ellipse">
            <a:avLst/>
          </a:prstGeom>
          <a:solidFill>
            <a:srgbClr val="007AFF">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1066800" y="3238500"/>
            <a:ext cx="3048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007AFF"/>
                </a:solidFill>
                <a:latin typeface="Noto Sans SC"/>
                <a:ea typeface="Noto Sans SC"/>
                <a:cs typeface="Noto Sans SC"/>
                <a:sym typeface="Noto Sans SC"/>
              </a:rPr>
              <a:t>2</a:t>
            </a:r>
            <a:endParaRPr lang="en-US" sz="1100"/>
          </a:p>
        </p:txBody>
      </p:sp>
      <p:sp>
        <p:nvSpPr>
          <p:cNvPr name="AutoShape 12" id="12"/>
          <p:cNvSpPr/>
          <p:nvPr/>
        </p:nvSpPr>
        <p:spPr>
          <a:xfrm rot="0" flipH="false" flipV="false">
            <a:off x="1473200" y="3213100"/>
            <a:ext cx="41148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555555"/>
                </a:solidFill>
                <a:latin typeface="Noto Sans SC"/>
                <a:ea typeface="Noto Sans SC"/>
                <a:cs typeface="Noto Sans SC"/>
                <a:sym typeface="Noto Sans SC"/>
              </a:rPr>
              <a:t>增加用户粘性和平台活跃度。</a:t>
            </a:r>
            <a:endParaRPr lang="en-US" sz="1100"/>
          </a:p>
        </p:txBody>
      </p:sp>
      <p:sp>
        <p:nvSpPr>
          <p:cNvPr name="AutoShape 13" id="13"/>
          <p:cNvSpPr/>
          <p:nvPr/>
        </p:nvSpPr>
        <p:spPr>
          <a:xfrm rot="0" flipH="false" flipV="false">
            <a:off x="1066800" y="3810000"/>
            <a:ext cx="304800" cy="304800"/>
          </a:xfrm>
          <a:prstGeom prst="ellipse">
            <a:avLst/>
          </a:prstGeom>
          <a:solidFill>
            <a:srgbClr val="007AFF">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66800" y="3810000"/>
            <a:ext cx="3048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007AFF"/>
                </a:solidFill>
                <a:latin typeface="Noto Sans SC"/>
                <a:ea typeface="Noto Sans SC"/>
                <a:cs typeface="Noto Sans SC"/>
                <a:sym typeface="Noto Sans SC"/>
              </a:rPr>
              <a:t>3</a:t>
            </a:r>
            <a:endParaRPr lang="en-US" sz="1100"/>
          </a:p>
        </p:txBody>
      </p:sp>
      <p:sp>
        <p:nvSpPr>
          <p:cNvPr name="AutoShape 15" id="15"/>
          <p:cNvSpPr/>
          <p:nvPr/>
        </p:nvSpPr>
        <p:spPr>
          <a:xfrm rot="0" flipH="false" flipV="false">
            <a:off x="1473200" y="3784600"/>
            <a:ext cx="41148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555555"/>
                </a:solidFill>
                <a:latin typeface="Noto Sans SC"/>
                <a:ea typeface="Noto Sans SC"/>
                <a:cs typeface="Noto Sans SC"/>
                <a:sym typeface="Noto Sans SC"/>
              </a:rPr>
              <a:t>提高转化率和销售额。</a:t>
            </a:r>
            <a:endParaRPr lang="en-US" sz="1100"/>
          </a:p>
        </p:txBody>
      </p:sp>
      <p:sp>
        <p:nvSpPr>
          <p:cNvPr name="AutoShape 16" id="16"/>
          <p:cNvSpPr/>
          <p:nvPr/>
        </p:nvSpPr>
        <p:spPr>
          <a:xfrm rot="0" flipH="false" flipV="false">
            <a:off x="1066800" y="4381500"/>
            <a:ext cx="304800" cy="304800"/>
          </a:xfrm>
          <a:prstGeom prst="ellipse">
            <a:avLst/>
          </a:prstGeom>
          <a:solidFill>
            <a:srgbClr val="007AFF">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1066800" y="4381500"/>
            <a:ext cx="3048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007AFF"/>
                </a:solidFill>
                <a:latin typeface="Noto Sans SC"/>
                <a:ea typeface="Noto Sans SC"/>
                <a:cs typeface="Noto Sans SC"/>
                <a:sym typeface="Noto Sans SC"/>
              </a:rPr>
              <a:t>4</a:t>
            </a:r>
            <a:endParaRPr lang="en-US" sz="1100"/>
          </a:p>
        </p:txBody>
      </p:sp>
      <p:sp>
        <p:nvSpPr>
          <p:cNvPr name="AutoShape 18" id="18"/>
          <p:cNvSpPr/>
          <p:nvPr/>
        </p:nvSpPr>
        <p:spPr>
          <a:xfrm rot="0" flipH="false" flipV="false">
            <a:off x="1473200" y="4356100"/>
            <a:ext cx="41148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555555"/>
                </a:solidFill>
                <a:latin typeface="Noto Sans SC"/>
                <a:ea typeface="Noto Sans SC"/>
                <a:cs typeface="Noto Sans SC"/>
                <a:sym typeface="Noto Sans SC"/>
              </a:rPr>
              <a:t>实现精准营销，降低获客成本。</a:t>
            </a:r>
            <a:endParaRPr lang="en-US" sz="1100"/>
          </a:p>
        </p:txBody>
      </p:sp>
      <p:sp>
        <p:nvSpPr>
          <p:cNvPr name="AutoShape 19" id="19"/>
          <p:cNvSpPr/>
          <p:nvPr/>
        </p:nvSpPr>
        <p:spPr>
          <a:xfrm rot="0" flipH="false" flipV="false">
            <a:off x="6350000" y="1651000"/>
            <a:ext cx="5080000" cy="4318000"/>
          </a:xfrm>
          <a:prstGeom prst="roundRect">
            <a:avLst>
              <a:gd name="adj" fmla="val 2941"/>
            </a:avLst>
          </a:prstGeom>
          <a:solidFill>
            <a:srgbClr val="FFFFFF">
              <a:alpha val="100000"/>
            </a:srgbClr>
          </a:solidFill>
          <a:ln w="25400" cmpd="sng" cap="flat">
            <a:noFill/>
            <a:prstDash val="solid"/>
            <a:round/>
          </a:ln>
          <a:effectLst>
            <a:outerShdw dir="5400000" dist="50800" blurRad="127000" algn="tl" rotWithShape="false">
              <a:srgbClr val="000000">
                <a:alpha val="8000"/>
              </a:srgbClr>
            </a:outerShdw>
          </a:effectLst>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654800" y="1955800"/>
            <a:ext cx="355600" cy="355600"/>
          </a:xfrm>
          <a:prstGeom prst="rect">
            <a:avLst/>
          </a:prstGeom>
        </p:spPr>
      </p:pic>
      <p:sp>
        <p:nvSpPr>
          <p:cNvPr name="AutoShape 21" id="21"/>
          <p:cNvSpPr/>
          <p:nvPr/>
        </p:nvSpPr>
        <p:spPr>
          <a:xfrm rot="0" flipH="false" flipV="false">
            <a:off x="7112000" y="1930400"/>
            <a:ext cx="40640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333333"/>
                </a:solidFill>
                <a:latin typeface="Noto Sans SC"/>
                <a:ea typeface="Noto Sans SC"/>
                <a:cs typeface="Noto Sans SC"/>
                <a:sym typeface="Noto Sans SC"/>
              </a:rPr>
              <a:t>推荐系统的主要挑战</a:t>
            </a:r>
            <a:endParaRPr lang="en-US" sz="1100"/>
          </a:p>
        </p:txBody>
      </p:sp>
      <p:cxnSp>
        <p:nvCxnSpPr>
          <p:cNvPr name="Connector 22" id="22"/>
          <p:cNvCxnSpPr/>
          <p:nvPr/>
        </p:nvCxnSpPr>
        <p:spPr>
          <a:xfrm rot="-9766" flipH="false" flipV="false">
            <a:off x="6654809" y="2406650"/>
            <a:ext cx="4470400" cy="12700"/>
          </a:xfrm>
          <a:prstGeom prst="straightConnector1">
            <a:avLst/>
          </a:prstGeom>
          <a:solidFill>
            <a:srgbClr val="DEE0E3">
              <a:alpha val="100000"/>
            </a:srgbClr>
          </a:solidFill>
          <a:ln w="12700" cmpd="sng" cap="flat">
            <a:solidFill>
              <a:srgbClr val="E6E6E6">
                <a:alpha val="100000"/>
              </a:srgbClr>
            </a:solidFill>
            <a:prstDash val="solid"/>
            <a:round/>
            <a:headEnd type="none" w="med" len="med"/>
            <a:tailEnd type="none" w="med" len="med"/>
          </a:ln>
        </p:spPr>
      </p:cxnSp>
      <p:pic>
        <p:nvPicPr>
          <p:cNvPr name="Picture 23" id="2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654800" y="2692400"/>
            <a:ext cx="254000" cy="254000"/>
          </a:xfrm>
          <a:prstGeom prst="rect">
            <a:avLst/>
          </a:prstGeom>
        </p:spPr>
      </p:pic>
      <p:sp>
        <p:nvSpPr>
          <p:cNvPr name="AutoShape 24" id="24"/>
          <p:cNvSpPr/>
          <p:nvPr/>
        </p:nvSpPr>
        <p:spPr>
          <a:xfrm rot="0" flipH="false" flipV="false">
            <a:off x="7010400" y="2667000"/>
            <a:ext cx="41148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555555"/>
                </a:solidFill>
                <a:latin typeface="Noto Sans SC"/>
                <a:ea typeface="Noto Sans SC"/>
                <a:cs typeface="Noto Sans SC"/>
                <a:sym typeface="Noto Sans SC"/>
              </a:rPr>
              <a:t>数据稀疏性问题</a:t>
            </a:r>
            <a:endParaRPr lang="en-US" sz="1100"/>
          </a:p>
        </p:txBody>
      </p:sp>
      <p:pic>
        <p:nvPicPr>
          <p:cNvPr name="Picture 25" id="2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654800" y="3200400"/>
            <a:ext cx="254000" cy="254000"/>
          </a:xfrm>
          <a:prstGeom prst="rect">
            <a:avLst/>
          </a:prstGeom>
        </p:spPr>
      </p:pic>
      <p:sp>
        <p:nvSpPr>
          <p:cNvPr name="AutoShape 26" id="26"/>
          <p:cNvSpPr/>
          <p:nvPr/>
        </p:nvSpPr>
        <p:spPr>
          <a:xfrm rot="0" flipH="false" flipV="false">
            <a:off x="7010400" y="3175000"/>
            <a:ext cx="41148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555555"/>
                </a:solidFill>
                <a:latin typeface="Noto Sans SC"/>
                <a:ea typeface="Noto Sans SC"/>
                <a:cs typeface="Noto Sans SC"/>
                <a:sym typeface="Noto Sans SC"/>
              </a:rPr>
              <a:t>冷启动问题</a:t>
            </a:r>
            <a:endParaRPr lang="en-US" sz="1100"/>
          </a:p>
        </p:txBody>
      </p:sp>
      <p:pic>
        <p:nvPicPr>
          <p:cNvPr name="Picture 27" id="2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654800" y="3708400"/>
            <a:ext cx="254000" cy="254000"/>
          </a:xfrm>
          <a:prstGeom prst="rect">
            <a:avLst/>
          </a:prstGeom>
        </p:spPr>
      </p:pic>
      <p:sp>
        <p:nvSpPr>
          <p:cNvPr name="AutoShape 28" id="28"/>
          <p:cNvSpPr/>
          <p:nvPr/>
        </p:nvSpPr>
        <p:spPr>
          <a:xfrm rot="0" flipH="false" flipV="false">
            <a:off x="7010400" y="3683000"/>
            <a:ext cx="41148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555555"/>
                </a:solidFill>
                <a:latin typeface="Noto Sans SC"/>
                <a:ea typeface="Noto Sans SC"/>
                <a:cs typeface="Noto Sans SC"/>
                <a:sym typeface="Noto Sans SC"/>
              </a:rPr>
              <a:t>可解释性不足</a:t>
            </a:r>
            <a:endParaRPr lang="en-US" sz="1100"/>
          </a:p>
        </p:txBody>
      </p:sp>
      <p:pic>
        <p:nvPicPr>
          <p:cNvPr name="Picture 29" id="2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654800" y="4216400"/>
            <a:ext cx="254000" cy="254000"/>
          </a:xfrm>
          <a:prstGeom prst="rect">
            <a:avLst/>
          </a:prstGeom>
        </p:spPr>
      </p:pic>
      <p:sp>
        <p:nvSpPr>
          <p:cNvPr name="AutoShape 30" id="30"/>
          <p:cNvSpPr/>
          <p:nvPr/>
        </p:nvSpPr>
        <p:spPr>
          <a:xfrm rot="0" flipH="false" flipV="false">
            <a:off x="7010400" y="4191000"/>
            <a:ext cx="41148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555555"/>
                </a:solidFill>
                <a:latin typeface="Noto Sans SC"/>
                <a:ea typeface="Noto Sans SC"/>
                <a:cs typeface="Noto Sans SC"/>
                <a:sym typeface="Noto Sans SC"/>
              </a:rPr>
              <a:t>多样性与准确性的平衡</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2F2F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007AFF"/>
                </a:solidFill>
                <a:latin typeface="Noto Sans SC"/>
                <a:ea typeface="Noto Sans SC"/>
                <a:cs typeface="Noto Sans SC"/>
                <a:sym typeface="Noto Sans SC"/>
              </a:rPr>
              <a:t>智能推荐测试PPT</a:t>
            </a:r>
            <a:endParaRPr lang="en-US" sz="1100"/>
          </a:p>
        </p:txBody>
      </p:sp>
      <p:cxnSp>
        <p:nvCxnSpPr>
          <p:cNvPr name="Connector 3" id="3"/>
          <p:cNvCxnSpPr/>
          <p:nvPr/>
        </p:nvCxnSpPr>
        <p:spPr>
          <a:xfrm rot="-4092" flipH="false" flipV="false">
            <a:off x="762004" y="1073150"/>
            <a:ext cx="10668000" cy="12700"/>
          </a:xfrm>
          <a:prstGeom prst="straightConnector1">
            <a:avLst/>
          </a:prstGeom>
          <a:solidFill>
            <a:srgbClr val="DEE0E3">
              <a:alpha val="100000"/>
            </a:srgbClr>
          </a:solidFill>
          <a:ln w="12700" cmpd="sng" cap="flat">
            <a:solidFill>
              <a:srgbClr val="007AFF">
                <a:alpha val="30000"/>
              </a:srgbClr>
            </a:solidFill>
            <a:prstDash val="solid"/>
            <a:round/>
            <a:headEnd type="none" w="med" len="med"/>
            <a:tailEnd type="none" w="med" len="med"/>
          </a:ln>
        </p:spPr>
      </p:cxnSp>
      <p:sp>
        <p:nvSpPr>
          <p:cNvPr name="AutoShape 4" id="4"/>
          <p:cNvSpPr/>
          <p:nvPr/>
        </p:nvSpPr>
        <p:spPr>
          <a:xfrm rot="0" flipH="false" flipV="false">
            <a:off x="2286000" y="1778000"/>
            <a:ext cx="7620000" cy="2794000"/>
          </a:xfrm>
          <a:prstGeom prst="roundRect">
            <a:avLst>
              <a:gd name="adj" fmla="val 4545"/>
            </a:avLst>
          </a:prstGeom>
          <a:solidFill>
            <a:srgbClr val="FFFFFF">
              <a:alpha val="100000"/>
            </a:srgbClr>
          </a:solidFill>
          <a:ln w="25400" cmpd="sng" cap="flat">
            <a:noFill/>
            <a:prstDash val="solid"/>
            <a:round/>
          </a:ln>
          <a:effectLst>
            <a:outerShdw dir="2700000" dist="127000" blurRad="254000" algn="tl" rotWithShape="false">
              <a:srgbClr val="000000">
                <a:alpha val="8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5537200" y="2159000"/>
            <a:ext cx="609600" cy="609600"/>
          </a:xfrm>
          <a:prstGeom prst="rect">
            <a:avLst/>
          </a:prstGeom>
        </p:spPr>
      </p:pic>
      <p:sp>
        <p:nvSpPr>
          <p:cNvPr name="AutoShape 6" id="6"/>
          <p:cNvSpPr/>
          <p:nvPr/>
        </p:nvSpPr>
        <p:spPr>
          <a:xfrm rot="0" flipH="false" flipV="false">
            <a:off x="2286000" y="2857500"/>
            <a:ext cx="7620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007AFF"/>
                </a:solidFill>
                <a:latin typeface="Noto Sans SC"/>
                <a:ea typeface="Noto Sans SC"/>
                <a:cs typeface="Noto Sans SC"/>
                <a:sym typeface="Noto Sans SC"/>
              </a:rPr>
              <a:t>页眉页脚示例</a:t>
            </a:r>
            <a:endParaRPr lang="en-US" sz="1100"/>
          </a:p>
        </p:txBody>
      </p:sp>
      <p:sp>
        <p:nvSpPr>
          <p:cNvPr name="AutoShape 7" id="7"/>
          <p:cNvSpPr/>
          <p:nvPr/>
        </p:nvSpPr>
        <p:spPr>
          <a:xfrm rot="0" flipH="false" flipV="false">
            <a:off x="2921000" y="3492500"/>
            <a:ext cx="635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666666"/>
                </a:solidFill>
                <a:latin typeface="Noto Sans SC"/>
                <a:ea typeface="Noto Sans SC"/>
                <a:cs typeface="Noto Sans SC"/>
                <a:sym typeface="Noto Sans SC"/>
              </a:rPr>
              <a:t>本页主要用于展示页眉和页脚的效果，验证布局元素的解析能力。</a:t>
            </a:r>
            <a:endParaRPr lang="en-US" sz="1100"/>
          </a:p>
        </p:txBody>
      </p:sp>
      <p:cxnSp>
        <p:nvCxnSpPr>
          <p:cNvPr name="Connector 8" id="8"/>
          <p:cNvCxnSpPr/>
          <p:nvPr/>
        </p:nvCxnSpPr>
        <p:spPr>
          <a:xfrm rot="-4092" flipH="false" flipV="false">
            <a:off x="762004" y="5772150"/>
            <a:ext cx="10668000" cy="12700"/>
          </a:xfrm>
          <a:prstGeom prst="straightConnector1">
            <a:avLst/>
          </a:prstGeom>
          <a:solidFill>
            <a:srgbClr val="DEE0E3">
              <a:alpha val="100000"/>
            </a:srgbClr>
          </a:solidFill>
          <a:ln w="12700" cmpd="sng" cap="flat">
            <a:solidFill>
              <a:srgbClr val="007AFF">
                <a:alpha val="30000"/>
              </a:srgbClr>
            </a:solidFill>
            <a:prstDash val="solid"/>
            <a:round/>
            <a:headEnd type="none" w="med" len="med"/>
            <a:tailEnd type="none" w="med" len="med"/>
          </a:ln>
        </p:spPr>
      </p:cxnSp>
      <p:sp>
        <p:nvSpPr>
          <p:cNvPr name="AutoShape 9" id="9"/>
          <p:cNvSpPr/>
          <p:nvPr/>
        </p:nvSpPr>
        <p:spPr>
          <a:xfrm rot="0" flipH="false" flipV="false">
            <a:off x="762000" y="59055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999999"/>
                </a:solidFill>
                <a:latin typeface="Noto Sans SC"/>
                <a:ea typeface="Noto Sans SC"/>
                <a:cs typeface="Noto Sans SC"/>
                <a:sym typeface="Noto Sans SC"/>
              </a:rPr>
              <a:t>测试文件</a:t>
            </a:r>
            <a:endParaRPr lang="en-US" sz="1100"/>
          </a:p>
        </p:txBody>
      </p:sp>
      <p:sp>
        <p:nvSpPr>
          <p:cNvPr name="AutoShape 10" id="10"/>
          <p:cNvSpPr/>
          <p:nvPr/>
        </p:nvSpPr>
        <p:spPr>
          <a:xfrm rot="0" flipH="false" flipV="false">
            <a:off x="6350000" y="5905500"/>
            <a:ext cx="5080000" cy="381000"/>
          </a:xfrm>
          <a:prstGeom prst="rect">
            <a:avLst/>
          </a:prstGeom>
          <a:noFill/>
          <a:ln w="12700" cmpd="sng" cap="flat">
            <a:noFill/>
            <a:prstDash val="solid"/>
            <a:round/>
          </a:ln>
        </p:spPr>
        <p:txBody>
          <a:bodyPr anchor="ctr" rtlCol="false" anchorCtr="false" vert="horz" wrap="square" lIns="0" rIns="0" tIns="0" bIns="0"/>
          <a:lstStyle/>
          <a:p>
            <a:pPr algn="r" indent="0">
              <a:lnSpc>
                <a:spcPct val="125000"/>
              </a:lnSpc>
              <a:defRPr/>
            </a:pPr>
            <a:r>
              <a:rPr lang="en-US" b="false" i="false" strike="noStrike" u="none" sz="1400">
                <a:solidFill>
                  <a:srgbClr val="999999"/>
                </a:solidFill>
                <a:latin typeface="Noto Sans SC"/>
                <a:ea typeface="Noto Sans SC"/>
                <a:cs typeface="Noto Sans SC"/>
                <a:sym typeface="Noto Sans SC"/>
              </a:rPr>
              <a:t>第 12 页</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2F2F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7AFF"/>
                </a:solidFill>
                <a:latin typeface="Noto Sans SC"/>
                <a:ea typeface="Noto Sans SC"/>
                <a:cs typeface="Noto Sans SC"/>
                <a:sym typeface="Noto Sans SC"/>
              </a:rPr>
              <a:t>旁注和页脚示例</a:t>
            </a:r>
            <a:endParaRPr lang="en-US" sz="1100"/>
          </a:p>
        </p:txBody>
      </p:sp>
      <p:sp>
        <p:nvSpPr>
          <p:cNvPr name="AutoShape 3" id="3"/>
          <p:cNvSpPr/>
          <p:nvPr/>
        </p:nvSpPr>
        <p:spPr>
          <a:xfrm rot="0" flipH="false" flipV="false">
            <a:off x="762000" y="1651000"/>
            <a:ext cx="2540000" cy="4064000"/>
          </a:xfrm>
          <a:prstGeom prst="roundRect">
            <a:avLst>
              <a:gd name="adj" fmla="val 5000"/>
            </a:avLst>
          </a:prstGeom>
          <a:solidFill>
            <a:srgbClr val="007AFF">
              <a:alpha val="8000"/>
            </a:srgbClr>
          </a:solidFill>
          <a:ln cmpd="sng" cap="flat">
            <a:solidFill>
              <a:srgbClr val="006EE6">
                <a:alpha val="8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905000"/>
            <a:ext cx="406400" cy="406400"/>
          </a:xfrm>
          <a:prstGeom prst="rect">
            <a:avLst/>
          </a:prstGeom>
        </p:spPr>
      </p:pic>
      <p:sp>
        <p:nvSpPr>
          <p:cNvPr name="AutoShape 5" id="5"/>
          <p:cNvSpPr/>
          <p:nvPr/>
        </p:nvSpPr>
        <p:spPr>
          <a:xfrm rot="0" flipH="false" flipV="false">
            <a:off x="1524000" y="1905000"/>
            <a:ext cx="15240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7AFF"/>
                </a:solidFill>
                <a:latin typeface="Noto Sans SC"/>
                <a:ea typeface="Noto Sans SC"/>
                <a:cs typeface="Noto Sans SC"/>
                <a:sym typeface="Noto Sans SC"/>
              </a:rPr>
              <a:t>装订线旁注</a:t>
            </a:r>
            <a:endParaRPr lang="en-US" sz="1100"/>
          </a:p>
        </p:txBody>
      </p:sp>
      <p:cxnSp>
        <p:nvCxnSpPr>
          <p:cNvPr name="Connector 6" id="6"/>
          <p:cNvCxnSpPr/>
          <p:nvPr/>
        </p:nvCxnSpPr>
        <p:spPr>
          <a:xfrm rot="-21485" flipH="false" flipV="false">
            <a:off x="1016020" y="2406650"/>
            <a:ext cx="2032000" cy="12700"/>
          </a:xfrm>
          <a:prstGeom prst="straightConnector1">
            <a:avLst/>
          </a:prstGeom>
          <a:solidFill>
            <a:srgbClr val="DEE0E3">
              <a:alpha val="100000"/>
            </a:srgbClr>
          </a:solidFill>
          <a:ln w="12700" cmpd="sng" cap="flat">
            <a:solidFill>
              <a:srgbClr val="007AFF">
                <a:alpha val="30000"/>
              </a:srgbClr>
            </a:solidFill>
            <a:prstDash val="solid"/>
            <a:round/>
            <a:headEnd type="none" w="med" len="med"/>
            <a:tailEnd type="none" w="med" len="med"/>
          </a:ln>
        </p:spPr>
      </p:cxnSp>
      <p:sp>
        <p:nvSpPr>
          <p:cNvPr name="AutoShape 7" id="7"/>
          <p:cNvSpPr/>
          <p:nvPr/>
        </p:nvSpPr>
        <p:spPr>
          <a:xfrm rot="0" flipH="false" flipV="false">
            <a:off x="1016000" y="2540000"/>
            <a:ext cx="2032000" cy="254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46464"/>
                </a:solidFill>
                <a:latin typeface="Noto Sans SC"/>
                <a:ea typeface="Noto Sans SC"/>
                <a:cs typeface="Noto Sans SC"/>
                <a:sym typeface="Noto Sans SC"/>
              </a:rPr>
              <a:t>此为测试旁注，通常位于页面边缘。用于补充说明或提供额外的上下文信息。</a:t>
            </a:r>
            <a:endParaRPr lang="en-US" sz="1100"/>
          </a:p>
        </p:txBody>
      </p:sp>
      <p:sp>
        <p:nvSpPr>
          <p:cNvPr name="AutoShape 8" id="8"/>
          <p:cNvSpPr/>
          <p:nvPr/>
        </p:nvSpPr>
        <p:spPr>
          <a:xfrm rot="0" flipH="false" flipV="false">
            <a:off x="3556000" y="1651000"/>
            <a:ext cx="7874000" cy="1905000"/>
          </a:xfrm>
          <a:prstGeom prst="roundRect">
            <a:avLst>
              <a:gd name="adj" fmla="val 6666"/>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810000" y="1905000"/>
            <a:ext cx="406400" cy="406400"/>
          </a:xfrm>
          <a:prstGeom prst="rect">
            <a:avLst/>
          </a:prstGeom>
        </p:spPr>
      </p:pic>
      <p:sp>
        <p:nvSpPr>
          <p:cNvPr name="AutoShape 10" id="10"/>
          <p:cNvSpPr/>
          <p:nvPr/>
        </p:nvSpPr>
        <p:spPr>
          <a:xfrm rot="0" flipH="false" flipV="false">
            <a:off x="4318000" y="1905000"/>
            <a:ext cx="63500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33333"/>
                </a:solidFill>
                <a:latin typeface="Noto Sans SC"/>
                <a:ea typeface="Noto Sans SC"/>
                <a:cs typeface="Noto Sans SC"/>
                <a:sym typeface="Noto Sans SC"/>
              </a:rPr>
              <a:t>分类性能指标</a:t>
            </a:r>
            <a:endParaRPr lang="en-US" sz="1100"/>
          </a:p>
        </p:txBody>
      </p:sp>
      <p:sp>
        <p:nvSpPr>
          <p:cNvPr name="AutoShape 11" id="11"/>
          <p:cNvSpPr/>
          <p:nvPr/>
        </p:nvSpPr>
        <p:spPr>
          <a:xfrm rot="0" flipH="false" flipV="false">
            <a:off x="3810000" y="2413000"/>
            <a:ext cx="7366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46464"/>
                </a:solidFill>
                <a:latin typeface="Noto Sans SC"/>
                <a:ea typeface="Noto Sans SC"/>
                <a:cs typeface="Noto Sans SC"/>
                <a:sym typeface="Noto Sans SC"/>
              </a:rPr>
              <a:t>用于衡量推荐算法对物品类别的预测能力，核心指标包括：准确率（Precision）、召回率（Recall）以及综合两者的 F1 值。</a:t>
            </a:r>
            <a:endParaRPr lang="en-US" sz="1100"/>
          </a:p>
        </p:txBody>
      </p:sp>
      <p:sp>
        <p:nvSpPr>
          <p:cNvPr name="AutoShape 12" id="12"/>
          <p:cNvSpPr/>
          <p:nvPr/>
        </p:nvSpPr>
        <p:spPr>
          <a:xfrm rot="0" flipH="false" flipV="false">
            <a:off x="3556000" y="3810000"/>
            <a:ext cx="7874000" cy="1905000"/>
          </a:xfrm>
          <a:prstGeom prst="roundRect">
            <a:avLst>
              <a:gd name="adj" fmla="val 6666"/>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3810000" y="4064000"/>
            <a:ext cx="406400" cy="406400"/>
          </a:xfrm>
          <a:prstGeom prst="rect">
            <a:avLst/>
          </a:prstGeom>
        </p:spPr>
      </p:pic>
      <p:sp>
        <p:nvSpPr>
          <p:cNvPr name="AutoShape 14" id="14"/>
          <p:cNvSpPr/>
          <p:nvPr/>
        </p:nvSpPr>
        <p:spPr>
          <a:xfrm rot="0" flipH="false" flipV="false">
            <a:off x="4318000" y="4064000"/>
            <a:ext cx="63500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33333"/>
                </a:solidFill>
                <a:latin typeface="Noto Sans SC"/>
                <a:ea typeface="Noto Sans SC"/>
                <a:cs typeface="Noto Sans SC"/>
                <a:sym typeface="Noto Sans SC"/>
              </a:rPr>
              <a:t>回归性能指标</a:t>
            </a:r>
            <a:endParaRPr lang="en-US" sz="1100"/>
          </a:p>
        </p:txBody>
      </p:sp>
      <p:sp>
        <p:nvSpPr>
          <p:cNvPr name="AutoShape 15" id="15"/>
          <p:cNvSpPr/>
          <p:nvPr/>
        </p:nvSpPr>
        <p:spPr>
          <a:xfrm rot="0" flipH="false" flipV="false">
            <a:off x="3810000" y="4572000"/>
            <a:ext cx="7366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46464"/>
                </a:solidFill>
                <a:latin typeface="Noto Sans SC"/>
                <a:ea typeface="Noto Sans SC"/>
                <a:cs typeface="Noto Sans SC"/>
                <a:sym typeface="Noto Sans SC"/>
              </a:rPr>
              <a:t>用于衡量预测评分与实际评分之间的误差，常见指标为均方误差（MSE），它反映了模型预测的精准度。</a:t>
            </a:r>
            <a:endParaRPr lang="en-US" sz="1100"/>
          </a:p>
        </p:txBody>
      </p:sp>
      <p:cxnSp>
        <p:nvCxnSpPr>
          <p:cNvPr name="Connector 16" id="16"/>
          <p:cNvCxnSpPr/>
          <p:nvPr/>
        </p:nvCxnSpPr>
        <p:spPr>
          <a:xfrm rot="-4092" flipH="false" flipV="false">
            <a:off x="762004" y="5962650"/>
            <a:ext cx="106680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sp>
        <p:nvSpPr>
          <p:cNvPr name="AutoShape 17" id="17"/>
          <p:cNvSpPr/>
          <p:nvPr/>
        </p:nvSpPr>
        <p:spPr>
          <a:xfrm rot="0" flipH="false" flipV="false">
            <a:off x="762000" y="60960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969696"/>
                </a:solidFill>
                <a:latin typeface="Noto Sans SC"/>
                <a:ea typeface="Noto Sans SC"/>
                <a:cs typeface="Noto Sans SC"/>
                <a:sym typeface="Noto Sans SC"/>
              </a:rPr>
              <a:t>页面脚注：此为页面脚注示例，用于补充说明页面内容。</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2F2F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7AFF"/>
                </a:solidFill>
                <a:latin typeface="Noto Sans SC"/>
                <a:ea typeface="Noto Sans SC"/>
                <a:cs typeface="Noto Sans SC"/>
                <a:sym typeface="Noto Sans SC"/>
              </a:rPr>
              <a:t>混合元素示例</a:t>
            </a:r>
            <a:endParaRPr lang="en-US" sz="1100"/>
          </a:p>
        </p:txBody>
      </p:sp>
      <p:sp>
        <p:nvSpPr>
          <p:cNvPr name="AutoShape 3" id="3"/>
          <p:cNvSpPr/>
          <p:nvPr/>
        </p:nvSpPr>
        <p:spPr>
          <a:xfrm rot="0" flipH="false" flipV="false">
            <a:off x="762000" y="1524000"/>
            <a:ext cx="5207000" cy="4699000"/>
          </a:xfrm>
          <a:prstGeom prst="roundRect">
            <a:avLst>
              <a:gd name="adj" fmla="val 4324"/>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778000"/>
            <a:ext cx="304800" cy="304800"/>
          </a:xfrm>
          <a:prstGeom prst="rect">
            <a:avLst/>
          </a:prstGeom>
        </p:spPr>
      </p:pic>
      <p:sp>
        <p:nvSpPr>
          <p:cNvPr name="AutoShape 5" id="5"/>
          <p:cNvSpPr/>
          <p:nvPr/>
        </p:nvSpPr>
        <p:spPr>
          <a:xfrm rot="0" flipH="false" flipV="false">
            <a:off x="1397000" y="17526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33333"/>
                </a:solidFill>
                <a:latin typeface="Noto Sans SC"/>
                <a:ea typeface="Noto Sans SC"/>
                <a:cs typeface="Noto Sans SC"/>
                <a:sym typeface="Noto Sans SC"/>
              </a:rPr>
              <a:t>推荐系统架构核心模块</a:t>
            </a:r>
            <a:endParaRPr lang="en-US" sz="1100"/>
          </a:p>
        </p:txBody>
      </p:sp>
      <p:cxnSp>
        <p:nvCxnSpPr>
          <p:cNvPr name="Connector 6" id="6"/>
          <p:cNvCxnSpPr/>
          <p:nvPr/>
        </p:nvCxnSpPr>
        <p:spPr>
          <a:xfrm rot="-9291" flipH="false" flipV="false">
            <a:off x="1016009" y="2152650"/>
            <a:ext cx="4699000" cy="12700"/>
          </a:xfrm>
          <a:prstGeom prst="straightConnector1">
            <a:avLst/>
          </a:prstGeom>
          <a:solidFill>
            <a:srgbClr val="DEE0E3">
              <a:alpha val="100000"/>
            </a:srgbClr>
          </a:solidFill>
          <a:ln w="12700" cmpd="sng" cap="flat">
            <a:solidFill>
              <a:srgbClr val="F2F2F7">
                <a:alpha val="100000"/>
              </a:srgbClr>
            </a:solidFill>
            <a:prstDash val="solid"/>
            <a:round/>
            <a:headEnd type="none" w="med" len="med"/>
            <a:tailEnd type="none" w="med" len="med"/>
          </a:ln>
        </p:spPr>
      </p:cxn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2349500"/>
            <a:ext cx="254000" cy="254000"/>
          </a:xfrm>
          <a:prstGeom prst="rect">
            <a:avLst/>
          </a:prstGeom>
        </p:spPr>
      </p:pic>
      <p:sp>
        <p:nvSpPr>
          <p:cNvPr name="AutoShape 8" id="8"/>
          <p:cNvSpPr/>
          <p:nvPr/>
        </p:nvSpPr>
        <p:spPr>
          <a:xfrm rot="0" flipH="false" flipV="false">
            <a:off x="1333500" y="2324100"/>
            <a:ext cx="43815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333333"/>
                </a:solidFill>
                <a:latin typeface="Noto Sans SC"/>
                <a:ea typeface="Noto Sans SC"/>
                <a:cs typeface="Noto Sans SC"/>
                <a:sym typeface="Noto Sans SC"/>
              </a:rPr>
              <a:t>1. 数据层 (Data Layer)</a:t>
            </a:r>
            <a:endParaRPr lang="en-US" sz="1100"/>
          </a:p>
        </p:txBody>
      </p:sp>
      <p:sp>
        <p:nvSpPr>
          <p:cNvPr name="AutoShape 9" id="9"/>
          <p:cNvSpPr/>
          <p:nvPr/>
        </p:nvSpPr>
        <p:spPr>
          <a:xfrm rot="0" flipH="false" flipV="false">
            <a:off x="1333500" y="2628900"/>
            <a:ext cx="4381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66666"/>
                </a:solidFill>
                <a:latin typeface="Noto Sans SC"/>
                <a:ea typeface="Noto Sans SC"/>
                <a:cs typeface="Noto Sans SC"/>
                <a:sym typeface="Noto Sans SC"/>
              </a:rPr>
              <a:t>负责收集和存储用户行为数据、物品信息数据等基础数据，是推荐系统的基石。</a:t>
            </a:r>
            <a:endParaRPr lang="en-US" sz="1100"/>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3238500"/>
            <a:ext cx="254000" cy="254000"/>
          </a:xfrm>
          <a:prstGeom prst="rect">
            <a:avLst/>
          </a:prstGeom>
        </p:spPr>
      </p:pic>
      <p:sp>
        <p:nvSpPr>
          <p:cNvPr name="AutoShape 11" id="11"/>
          <p:cNvSpPr/>
          <p:nvPr/>
        </p:nvSpPr>
        <p:spPr>
          <a:xfrm rot="0" flipH="false" flipV="false">
            <a:off x="1333500" y="3213100"/>
            <a:ext cx="43815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333333"/>
                </a:solidFill>
                <a:latin typeface="Noto Sans SC"/>
                <a:ea typeface="Noto Sans SC"/>
                <a:cs typeface="Noto Sans SC"/>
                <a:sym typeface="Noto Sans SC"/>
              </a:rPr>
              <a:t>2. 算法层 (Algorithm Layer)</a:t>
            </a:r>
            <a:endParaRPr lang="en-US" sz="1100"/>
          </a:p>
        </p:txBody>
      </p:sp>
      <p:sp>
        <p:nvSpPr>
          <p:cNvPr name="AutoShape 12" id="12"/>
          <p:cNvSpPr/>
          <p:nvPr/>
        </p:nvSpPr>
        <p:spPr>
          <a:xfrm rot="0" flipH="false" flipV="false">
            <a:off x="1333500" y="3517900"/>
            <a:ext cx="43815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66666"/>
                </a:solidFill>
                <a:latin typeface="Noto Sans SC"/>
                <a:ea typeface="Noto Sans SC"/>
                <a:cs typeface="Noto Sans SC"/>
                <a:sym typeface="Noto Sans SC"/>
              </a:rPr>
              <a:t>包含协同过滤、深度学习等算法。核心是计算用户对物品的兴趣度：</a:t>
            </a:r>
            <a:r>
              <a:rPr lang="en-US" b="false" i="false" strike="noStrike" u="none" sz="1200">
                <a:solidFill>
                  <a:srgbClr val="1F2329"/>
                </a:solidFill>
                <a:latin typeface="Noto Sans SC"/>
                <a:ea typeface="Noto Sans SC"/>
                <a:cs typeface="Noto Sans SC"/>
                <a:sym typeface="Noto Sans SC"/>
              </a:rPr>
              <a:t/>
            </a:r>
            <a:endParaRPr lang="en-US" sz="1100"/>
          </a:p>
          <a:p>
            <a:pPr algn="l" indent="0">
              <a:lnSpc>
                <a:spcPct val="125000"/>
              </a:lnSpc>
            </a:pPr>
            <a:r>
              <a:rPr lang="en-US" b="false" i="true" strike="noStrike" u="none" sz="1200">
                <a:solidFill>
                  <a:srgbClr val="007AFF"/>
                </a:solidFill>
                <a:latin typeface="Noto Sans SC"/>
                <a:ea typeface="Noto Sans SC"/>
                <a:cs typeface="Noto Sans SC"/>
                <a:sym typeface="Noto Sans SC"/>
              </a:rPr>
              <a:t>score(u, i) = f(user_features, item_features)</a:t>
            </a:r>
          </a:p>
        </p:txBody>
      </p:sp>
      <p:pic>
        <p:nvPicPr>
          <p:cNvPr name="Picture 13" id="1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4381500"/>
            <a:ext cx="254000" cy="254000"/>
          </a:xfrm>
          <a:prstGeom prst="rect">
            <a:avLst/>
          </a:prstGeom>
        </p:spPr>
      </p:pic>
      <p:sp>
        <p:nvSpPr>
          <p:cNvPr name="AutoShape 14" id="14"/>
          <p:cNvSpPr/>
          <p:nvPr/>
        </p:nvSpPr>
        <p:spPr>
          <a:xfrm rot="0" flipH="false" flipV="false">
            <a:off x="1333500" y="4356100"/>
            <a:ext cx="43815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333333"/>
                </a:solidFill>
                <a:latin typeface="Noto Sans SC"/>
                <a:ea typeface="Noto Sans SC"/>
                <a:cs typeface="Noto Sans SC"/>
                <a:sym typeface="Noto Sans SC"/>
              </a:rPr>
              <a:t>3. 应用层 (Application Layer)</a:t>
            </a:r>
            <a:endParaRPr lang="en-US" sz="1100"/>
          </a:p>
        </p:txBody>
      </p:sp>
      <p:sp>
        <p:nvSpPr>
          <p:cNvPr name="AutoShape 15" id="15"/>
          <p:cNvSpPr/>
          <p:nvPr/>
        </p:nvSpPr>
        <p:spPr>
          <a:xfrm rot="0" flipH="false" flipV="false">
            <a:off x="1333500" y="4660900"/>
            <a:ext cx="4381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66666"/>
                </a:solidFill>
                <a:latin typeface="Noto Sans SC"/>
                <a:ea typeface="Noto Sans SC"/>
                <a:cs typeface="Noto Sans SC"/>
                <a:sym typeface="Noto Sans SC"/>
              </a:rPr>
              <a:t>将推荐结果以个性化的方式展示给用户，完成最终的业务落地。</a:t>
            </a:r>
            <a:endParaRPr lang="en-US" sz="1100"/>
          </a:p>
        </p:txBody>
      </p:sp>
      <p:sp>
        <p:nvSpPr>
          <p:cNvPr name="AutoShape 16" id="16"/>
          <p:cNvSpPr/>
          <p:nvPr/>
        </p:nvSpPr>
        <p:spPr>
          <a:xfrm rot="0" flipH="false" flipV="false">
            <a:off x="6223000" y="1524000"/>
            <a:ext cx="5207000" cy="4699000"/>
          </a:xfrm>
          <a:prstGeom prst="roundRect">
            <a:avLst>
              <a:gd name="adj" fmla="val 4324"/>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477000" y="1778000"/>
            <a:ext cx="304800" cy="304800"/>
          </a:xfrm>
          <a:prstGeom prst="rect">
            <a:avLst/>
          </a:prstGeom>
        </p:spPr>
      </p:pic>
      <p:sp>
        <p:nvSpPr>
          <p:cNvPr name="AutoShape 18" id="18"/>
          <p:cNvSpPr/>
          <p:nvPr/>
        </p:nvSpPr>
        <p:spPr>
          <a:xfrm rot="0" flipH="false" flipV="false">
            <a:off x="6858000" y="17526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33333"/>
                </a:solidFill>
                <a:latin typeface="Noto Sans SC"/>
                <a:ea typeface="Noto Sans SC"/>
                <a:cs typeface="Noto Sans SC"/>
                <a:sym typeface="Noto Sans SC"/>
              </a:rPr>
              <a:t>架构图解与算法对比</a:t>
            </a:r>
            <a:endParaRPr lang="en-US" sz="1100"/>
          </a:p>
        </p:txBody>
      </p:sp>
      <p:cxnSp>
        <p:nvCxnSpPr>
          <p:cNvPr name="Connector 19" id="19"/>
          <p:cNvCxnSpPr/>
          <p:nvPr/>
        </p:nvCxnSpPr>
        <p:spPr>
          <a:xfrm rot="-9291" flipH="false" flipV="false">
            <a:off x="6477009" y="2152650"/>
            <a:ext cx="4699000" cy="12700"/>
          </a:xfrm>
          <a:prstGeom prst="straightConnector1">
            <a:avLst/>
          </a:prstGeom>
          <a:solidFill>
            <a:srgbClr val="DEE0E3">
              <a:alpha val="100000"/>
            </a:srgbClr>
          </a:solidFill>
          <a:ln w="12700" cmpd="sng" cap="flat">
            <a:solidFill>
              <a:srgbClr val="F2F2F7">
                <a:alpha val="100000"/>
              </a:srgbClr>
            </a:solidFill>
            <a:prstDash val="solid"/>
            <a:round/>
            <a:headEnd type="none" w="med" len="med"/>
            <a:tailEnd type="none" w="med" len="med"/>
          </a:ln>
        </p:spPr>
      </p:cxnSp>
      <p:pic>
        <p:nvPicPr>
          <p:cNvPr name="Picture 20" id="20"/>
          <p:cNvPicPr>
            <a:picLocks noChangeAspect="true"/>
          </p:cNvPicPr>
          <p:nvPr/>
        </p:nvPicPr>
        <p:blipFill>
          <a:blip r:embed="rId12"/>
          <a:srcRect l="0" r="0" t="13963" b="13963"/>
          <a:stretch>
            <a:fillRect/>
          </a:stretch>
        </p:blipFill>
        <p:spPr>
          <a:xfrm rot="0" flipH="false" flipV="false">
            <a:off x="6477000" y="2349500"/>
            <a:ext cx="4699000" cy="1905000"/>
          </a:xfrm>
          <a:prstGeom prst="rect">
            <a:avLst/>
          </a:prstGeom>
          <a:noFill/>
          <a:ln w="25400" cmpd="sng" cap="flat">
            <a:noFill/>
            <a:prstDash val="solid"/>
            <a:round/>
          </a:ln>
        </p:spPr>
      </p:pic>
      <p:sp>
        <p:nvSpPr>
          <p:cNvPr name="AutoShape 21" id="21"/>
          <p:cNvSpPr/>
          <p:nvPr/>
        </p:nvSpPr>
        <p:spPr>
          <a:xfrm rot="0" flipH="false" flipV="false">
            <a:off x="6477000" y="4381500"/>
            <a:ext cx="4699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333333"/>
                </a:solidFill>
                <a:latin typeface="Noto Sans SC"/>
                <a:ea typeface="Noto Sans SC"/>
                <a:cs typeface="Noto Sans SC"/>
                <a:sym typeface="Noto Sans SC"/>
              </a:rPr>
              <a:t>主流算法优缺点对比</a:t>
            </a:r>
            <a:endParaRPr lang="en-US" sz="1100"/>
          </a:p>
        </p:txBody>
      </p:sp>
      <p:graphicFrame>
        <p:nvGraphicFramePr>
          <p:cNvPr name="Table 22" id="22"/>
          <p:cNvGraphicFramePr>
            <a:graphicFrameLocks noGrp="true"/>
          </p:cNvGraphicFramePr>
          <p:nvPr/>
        </p:nvGraphicFramePr>
        <p:xfrm>
          <a:off x="6477000" y="4762500"/>
          <a:ext cx="4699000" cy="1397000"/>
        </p:xfrm>
        <a:graphic>
          <a:graphicData uri="http://schemas.openxmlformats.org/drawingml/2006/table">
            <a:tbl>
              <a:tblPr>
                <a:effectLst/>
              </a:tblPr>
              <a:tblGrid>
                <a:gridCol w="1143000"/>
                <a:gridCol w="1778000"/>
                <a:gridCol w="1778000"/>
              </a:tblGrid>
              <a:tr h="381000">
                <a:tc>
                  <a:txBody>
                    <a:bodyPr anchor="t" rtlCol="false"/>
                    <a:lstStyle/>
                    <a:p>
                      <a:pPr algn="ctr" indent="0">
                        <a:lnSpc>
                          <a:spcPct val="100000"/>
                        </a:lnSpc>
                        <a:defRPr/>
                      </a:pPr>
                      <a:r>
                        <a:rPr lang="en-US" b="true" i="false" strike="noStrike" u="none" sz="1200">
                          <a:solidFill>
                            <a:srgbClr val="333333"/>
                          </a:solidFill>
                          <a:latin typeface="Noto Sans SC"/>
                          <a:ea typeface="Noto Sans SC"/>
                          <a:cs typeface="Noto Sans SC"/>
                          <a:sym typeface="Noto Sans SC"/>
                        </a:rPr>
                        <a:t>算法类型</a:t>
                      </a:r>
                      <a:endParaRPr lang="en-US" sz="1100"/>
                    </a:p>
                  </a:txBody>
                  <a:tcPr anchor="ctr" anchorCtr="false" marL="101600" marR="101600" marT="101600" marB="101600">
                    <a:lnL>
                      <a:noFill/>
                    </a:lnL>
                    <a:lnR>
                      <a:noFill/>
                    </a:lnR>
                    <a:lnT>
                      <a:noFill/>
                    </a:lnT>
                    <a:lnB>
                      <a:noFill/>
                    </a:lnB>
                    <a:solidFill>
                      <a:srgbClr val="F2F2F7">
                        <a:alpha val="100000"/>
                      </a:srgbClr>
                    </a:solidFill>
                  </a:tcPr>
                </a:tc>
                <a:tc>
                  <a:txBody>
                    <a:bodyPr anchor="t" rtlCol="false"/>
                    <a:lstStyle/>
                    <a:p>
                      <a:pPr algn="ctr" indent="0">
                        <a:lnSpc>
                          <a:spcPct val="100000"/>
                        </a:lnSpc>
                        <a:defRPr/>
                      </a:pPr>
                      <a:r>
                        <a:rPr lang="en-US" b="true" i="false" strike="noStrike" u="none" sz="1200">
                          <a:solidFill>
                            <a:srgbClr val="333333"/>
                          </a:solidFill>
                          <a:latin typeface="Noto Sans SC"/>
                          <a:ea typeface="Noto Sans SC"/>
                          <a:cs typeface="Noto Sans SC"/>
                          <a:sym typeface="Noto Sans SC"/>
                        </a:rPr>
                        <a:t>优点</a:t>
                      </a:r>
                      <a:endParaRPr lang="en-US" sz="1100"/>
                    </a:p>
                  </a:txBody>
                  <a:tcPr anchor="ctr" anchorCtr="false" marL="101600" marR="101600" marT="101600" marB="101600">
                    <a:lnL>
                      <a:noFill/>
                    </a:lnL>
                    <a:lnR>
                      <a:noFill/>
                    </a:lnR>
                    <a:lnT>
                      <a:noFill/>
                    </a:lnT>
                    <a:lnB>
                      <a:noFill/>
                    </a:lnB>
                    <a:solidFill>
                      <a:srgbClr val="F2F2F7">
                        <a:alpha val="100000"/>
                      </a:srgbClr>
                    </a:solidFill>
                  </a:tcPr>
                </a:tc>
                <a:tc>
                  <a:txBody>
                    <a:bodyPr anchor="t" rtlCol="false"/>
                    <a:lstStyle/>
                    <a:p>
                      <a:pPr algn="ctr" indent="0">
                        <a:lnSpc>
                          <a:spcPct val="100000"/>
                        </a:lnSpc>
                        <a:defRPr/>
                      </a:pPr>
                      <a:r>
                        <a:rPr lang="en-US" b="true" i="false" strike="noStrike" u="none" sz="1200">
                          <a:solidFill>
                            <a:srgbClr val="333333"/>
                          </a:solidFill>
                          <a:latin typeface="Noto Sans SC"/>
                          <a:ea typeface="Noto Sans SC"/>
                          <a:cs typeface="Noto Sans SC"/>
                          <a:sym typeface="Noto Sans SC"/>
                        </a:rPr>
                        <a:t>缺点</a:t>
                      </a:r>
                      <a:endParaRPr lang="en-US" sz="1100"/>
                    </a:p>
                  </a:txBody>
                  <a:tcPr anchor="ctr" anchorCtr="false" marL="101600" marR="101600" marT="101600" marB="101600">
                    <a:lnL>
                      <a:noFill/>
                    </a:lnL>
                    <a:lnR>
                      <a:noFill/>
                    </a:lnR>
                    <a:lnT>
                      <a:noFill/>
                    </a:lnT>
                    <a:lnB>
                      <a:noFill/>
                    </a:lnB>
                    <a:solidFill>
                      <a:srgbClr val="F2F2F7">
                        <a:alpha val="100000"/>
                      </a:srgbClr>
                    </a:solidFill>
                  </a:tcPr>
                </a:tc>
              </a:tr>
              <a:tr h="508000">
                <a:tc>
                  <a:txBody>
                    <a:bodyPr anchor="t" rtlCol="false"/>
                    <a:lstStyle/>
                    <a:p>
                      <a:pPr algn="ctr" indent="0">
                        <a:lnSpc>
                          <a:spcPct val="100000"/>
                        </a:lnSpc>
                        <a:defRPr/>
                      </a:pPr>
                      <a:r>
                        <a:rPr lang="en-US" b="false" i="false" strike="noStrike" u="none" sz="1200">
                          <a:solidFill>
                            <a:srgbClr val="666666"/>
                          </a:solidFill>
                          <a:latin typeface="Noto Sans SC"/>
                          <a:ea typeface="Noto Sans SC"/>
                          <a:cs typeface="Noto Sans SC"/>
                          <a:sym typeface="Noto Sans SC"/>
                        </a:rPr>
                        <a:t>协同过滤</a:t>
                      </a:r>
                      <a:endParaRPr lang="en-US" sz="1100"/>
                    </a:p>
                  </a:txBody>
                  <a:tcPr anchor="ctr" anchorCtr="false" marL="101600" marR="101600" marT="101600" marB="101600">
                    <a:lnL>
                      <a:noFill/>
                    </a:lnL>
                    <a:lnR>
                      <a:noFill/>
                    </a:lnR>
                    <a:lnT>
                      <a:noFill/>
                    </a:lnT>
                    <a:lnB>
                      <a:noFill/>
                    </a:lnB>
                    <a:noFill/>
                  </a:tcPr>
                </a:tc>
                <a:tc>
                  <a:txBody>
                    <a:bodyPr anchor="t" rtlCol="false"/>
                    <a:lstStyle/>
                    <a:p>
                      <a:pPr algn="ctr" indent="0">
                        <a:lnSpc>
                          <a:spcPct val="100000"/>
                        </a:lnSpc>
                        <a:defRPr/>
                      </a:pPr>
                      <a:r>
                        <a:rPr lang="en-US" b="false" i="false" strike="noStrike" u="none" sz="1200">
                          <a:solidFill>
                            <a:srgbClr val="666666"/>
                          </a:solidFill>
                          <a:latin typeface="Noto Sans SC"/>
                          <a:ea typeface="Noto Sans SC"/>
                          <a:cs typeface="Noto Sans SC"/>
                          <a:sym typeface="Noto Sans SC"/>
                        </a:rPr>
                        <a:t>无需物品特征，效果好</a:t>
                      </a:r>
                      <a:endParaRPr lang="en-US" sz="1100"/>
                    </a:p>
                  </a:txBody>
                  <a:tcPr anchor="ctr" anchorCtr="false" marL="101600" marR="101600" marT="101600" marB="101600">
                    <a:lnL>
                      <a:noFill/>
                    </a:lnL>
                    <a:lnR>
                      <a:noFill/>
                    </a:lnR>
                    <a:lnT>
                      <a:noFill/>
                    </a:lnT>
                    <a:lnB>
                      <a:noFill/>
                    </a:lnB>
                    <a:noFill/>
                  </a:tcPr>
                </a:tc>
                <a:tc>
                  <a:txBody>
                    <a:bodyPr anchor="t" rtlCol="false"/>
                    <a:lstStyle/>
                    <a:p>
                      <a:pPr algn="ctr" indent="0">
                        <a:lnSpc>
                          <a:spcPct val="100000"/>
                        </a:lnSpc>
                        <a:defRPr/>
                      </a:pPr>
                      <a:r>
                        <a:rPr lang="en-US" b="false" i="false" strike="noStrike" u="none" sz="1200">
                          <a:solidFill>
                            <a:srgbClr val="666666"/>
                          </a:solidFill>
                          <a:latin typeface="Noto Sans SC"/>
                          <a:ea typeface="Noto Sans SC"/>
                          <a:cs typeface="Noto Sans SC"/>
                          <a:sym typeface="Noto Sans SC"/>
                        </a:rPr>
                        <a:t>冷启动问题，数据稀疏</a:t>
                      </a:r>
                      <a:endParaRPr lang="en-US" sz="1100"/>
                    </a:p>
                  </a:txBody>
                  <a:tcPr anchor="ctr" anchorCtr="false" marL="101600" marR="101600" marT="101600" marB="101600">
                    <a:lnL>
                      <a:noFill/>
                    </a:lnL>
                    <a:lnR>
                      <a:noFill/>
                    </a:lnR>
                    <a:lnT>
                      <a:noFill/>
                    </a:lnT>
                    <a:lnB>
                      <a:noFill/>
                    </a:lnB>
                    <a:noFill/>
                  </a:tcPr>
                </a:tc>
              </a:tr>
              <a:tr h="508000">
                <a:tc>
                  <a:txBody>
                    <a:bodyPr anchor="t" rtlCol="false"/>
                    <a:lstStyle/>
                    <a:p>
                      <a:pPr algn="ctr" indent="0">
                        <a:lnSpc>
                          <a:spcPct val="100000"/>
                        </a:lnSpc>
                        <a:defRPr/>
                      </a:pPr>
                      <a:r>
                        <a:rPr lang="en-US" b="false" i="false" strike="noStrike" u="none" sz="1200">
                          <a:solidFill>
                            <a:srgbClr val="666666"/>
                          </a:solidFill>
                          <a:latin typeface="Noto Sans SC"/>
                          <a:ea typeface="Noto Sans SC"/>
                          <a:cs typeface="Noto Sans SC"/>
                          <a:sym typeface="Noto Sans SC"/>
                        </a:rPr>
                        <a:t>内容推荐</a:t>
                      </a:r>
                      <a:endParaRPr lang="en-US" sz="1100"/>
                    </a:p>
                  </a:txBody>
                  <a:tcPr anchor="ctr" anchorCtr="false" marL="101600" marR="101600" marT="101600" marB="101600">
                    <a:lnL>
                      <a:noFill/>
                    </a:lnL>
                    <a:lnR>
                      <a:noFill/>
                    </a:lnR>
                    <a:lnT>
                      <a:noFill/>
                    </a:lnT>
                    <a:lnB>
                      <a:noFill/>
                    </a:lnB>
                    <a:noFill/>
                  </a:tcPr>
                </a:tc>
                <a:tc>
                  <a:txBody>
                    <a:bodyPr anchor="t" rtlCol="false"/>
                    <a:lstStyle/>
                    <a:p>
                      <a:pPr algn="ctr" indent="0">
                        <a:lnSpc>
                          <a:spcPct val="100000"/>
                        </a:lnSpc>
                        <a:defRPr/>
                      </a:pPr>
                      <a:r>
                        <a:rPr lang="en-US" b="false" i="false" strike="noStrike" u="none" sz="1200">
                          <a:solidFill>
                            <a:srgbClr val="666666"/>
                          </a:solidFill>
                          <a:latin typeface="Noto Sans SC"/>
                          <a:ea typeface="Noto Sans SC"/>
                          <a:cs typeface="Noto Sans SC"/>
                          <a:sym typeface="Noto Sans SC"/>
                        </a:rPr>
                        <a:t>可解释性强，无冷启动</a:t>
                      </a:r>
                      <a:endParaRPr lang="en-US" sz="1100"/>
                    </a:p>
                  </a:txBody>
                  <a:tcPr anchor="ctr" anchorCtr="false" marL="101600" marR="101600" marT="101600" marB="101600">
                    <a:lnL>
                      <a:noFill/>
                    </a:lnL>
                    <a:lnR>
                      <a:noFill/>
                    </a:lnR>
                    <a:lnT>
                      <a:noFill/>
                    </a:lnT>
                    <a:lnB>
                      <a:noFill/>
                    </a:lnB>
                    <a:noFill/>
                  </a:tcPr>
                </a:tc>
                <a:tc>
                  <a:txBody>
                    <a:bodyPr anchor="t" rtlCol="false"/>
                    <a:lstStyle/>
                    <a:p>
                      <a:pPr algn="ctr" indent="0">
                        <a:lnSpc>
                          <a:spcPct val="100000"/>
                        </a:lnSpc>
                        <a:defRPr/>
                      </a:pPr>
                      <a:r>
                        <a:rPr lang="en-US" b="false" i="false" strike="noStrike" u="none" sz="1200">
                          <a:solidFill>
                            <a:srgbClr val="666666"/>
                          </a:solidFill>
                          <a:latin typeface="Noto Sans SC"/>
                          <a:ea typeface="Noto Sans SC"/>
                          <a:cs typeface="Noto Sans SC"/>
                          <a:sym typeface="Noto Sans SC"/>
                        </a:rPr>
                        <a:t>推荐多样性不足</a:t>
                      </a:r>
                      <a:endParaRPr lang="en-US" sz="1100"/>
                    </a:p>
                  </a:txBody>
                  <a:tcPr anchor="ctr" anchorCtr="false" marL="101600" marR="101600" marT="101600" marB="101600">
                    <a:lnL>
                      <a:noFill/>
                    </a:lnL>
                    <a:lnR>
                      <a:noFill/>
                    </a:lnR>
                    <a:lnT>
                      <a:noFill/>
                    </a:lnT>
                    <a:lnB>
                      <a:noFill/>
                    </a:lnB>
                    <a:noFill/>
                  </a:tcPr>
                </a:tc>
              </a:tr>
            </a:tbl>
          </a:graphicData>
        </a:graphic>
      </p:graphicFrame>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2286000" y="1524000"/>
            <a:ext cx="7620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200">
                <a:solidFill>
                  <a:srgbClr val="FFFFFF"/>
                </a:solidFill>
                <a:latin typeface="Noto Sans SC"/>
                <a:ea typeface="Noto Sans SC"/>
                <a:cs typeface="Noto Sans SC"/>
                <a:sym typeface="Noto Sans SC"/>
              </a:rPr>
              <a:t>总结</a:t>
            </a:r>
            <a:endParaRPr lang="en-US" sz="1100"/>
          </a:p>
        </p:txBody>
      </p:sp>
      <p:cxnSp>
        <p:nvCxnSpPr>
          <p:cNvPr name="Connector 5" id="5"/>
          <p:cNvCxnSpPr/>
          <p:nvPr/>
        </p:nvCxnSpPr>
        <p:spPr>
          <a:xfrm rot="-34376" flipH="false" flipV="false">
            <a:off x="5461032" y="2279650"/>
            <a:ext cx="1270000" cy="12700"/>
          </a:xfrm>
          <a:prstGeom prst="straightConnector1">
            <a:avLst/>
          </a:prstGeom>
          <a:solidFill>
            <a:srgbClr val="DEE0E3">
              <a:alpha val="100000"/>
            </a:srgbClr>
          </a:solidFill>
          <a:ln w="38100" cmpd="sng" cap="flat">
            <a:solidFill>
              <a:srgbClr val="007AFF">
                <a:alpha val="100000"/>
              </a:srgbClr>
            </a:solidFill>
            <a:prstDash val="solid"/>
            <a:round/>
            <a:headEnd type="none" w="lg" len="lg"/>
            <a:tailEnd type="none" w="lg" len="lg"/>
          </a:ln>
        </p:spPr>
      </p:cxnSp>
      <p:sp>
        <p:nvSpPr>
          <p:cNvPr name="AutoShape 6" id="6"/>
          <p:cNvSpPr/>
          <p:nvPr/>
        </p:nvSpPr>
        <p:spPr>
          <a:xfrm rot="0" flipH="false" flipV="false">
            <a:off x="2032000" y="2540000"/>
            <a:ext cx="8128000" cy="152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FFFFFF">
                    <a:alpha val="90196"/>
                  </a:srgbClr>
                </a:solidFill>
                <a:latin typeface="Noto Sans SC"/>
                <a:ea typeface="Noto Sans SC"/>
                <a:cs typeface="Noto Sans SC"/>
                <a:sym typeface="Noto Sans SC"/>
              </a:rPr>
              <a:t>本PPT作为一个测试样本，包含了文本、标题、公式、图片、表格、拼音、代码块、参考文献、算法块、列表、页眉页脚、旁注和页脚等多种元素类型，可用于全面测试文件解析工具的能力。</a:t>
            </a:r>
            <a:endParaRPr lang="en-US" sz="1100"/>
          </a:p>
        </p:txBody>
      </p:sp>
      <p:sp>
        <p:nvSpPr>
          <p:cNvPr name="AutoShape 7" id="7"/>
          <p:cNvSpPr/>
          <p:nvPr/>
        </p:nvSpPr>
        <p:spPr>
          <a:xfrm rot="0" flipH="false" flipV="false">
            <a:off x="2032000" y="4318000"/>
            <a:ext cx="2540000" cy="1270000"/>
          </a:xfrm>
          <a:prstGeom prst="roundRect">
            <a:avLst>
              <a:gd name="adj" fmla="val 10000"/>
            </a:avLst>
          </a:prstGeom>
          <a:solidFill>
            <a:srgbClr val="FFFFFF">
              <a:alpha val="10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3098800" y="4508500"/>
            <a:ext cx="406400" cy="406400"/>
          </a:xfrm>
          <a:prstGeom prst="rect">
            <a:avLst/>
          </a:prstGeom>
        </p:spPr>
      </p:pic>
      <p:sp>
        <p:nvSpPr>
          <p:cNvPr name="AutoShape 9" id="9"/>
          <p:cNvSpPr/>
          <p:nvPr/>
        </p:nvSpPr>
        <p:spPr>
          <a:xfrm rot="0" flipH="false" flipV="false">
            <a:off x="2159000" y="4953000"/>
            <a:ext cx="228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solidFill>
                <a:latin typeface="Noto Sans SC"/>
                <a:ea typeface="Noto Sans SC"/>
                <a:cs typeface="Noto Sans SC"/>
                <a:sym typeface="Noto Sans SC"/>
              </a:rPr>
              <a:t>元素类型丰富</a:t>
            </a:r>
            <a:endParaRPr lang="en-US" sz="1100"/>
          </a:p>
        </p:txBody>
      </p:sp>
      <p:sp>
        <p:nvSpPr>
          <p:cNvPr name="AutoShape 10" id="10"/>
          <p:cNvSpPr/>
          <p:nvPr/>
        </p:nvSpPr>
        <p:spPr>
          <a:xfrm rot="0" flipH="false" flipV="false">
            <a:off x="4826000" y="4318000"/>
            <a:ext cx="2540000" cy="1270000"/>
          </a:xfrm>
          <a:prstGeom prst="roundRect">
            <a:avLst>
              <a:gd name="adj" fmla="val 10000"/>
            </a:avLst>
          </a:prstGeom>
          <a:solidFill>
            <a:srgbClr val="FFFFFF">
              <a:alpha val="10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5892800" y="4508500"/>
            <a:ext cx="406400" cy="406400"/>
          </a:xfrm>
          <a:prstGeom prst="rect">
            <a:avLst/>
          </a:prstGeom>
        </p:spPr>
      </p:pic>
      <p:sp>
        <p:nvSpPr>
          <p:cNvPr name="AutoShape 12" id="12"/>
          <p:cNvSpPr/>
          <p:nvPr/>
        </p:nvSpPr>
        <p:spPr>
          <a:xfrm rot="0" flipH="false" flipV="false">
            <a:off x="4953000" y="4953000"/>
            <a:ext cx="228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solidFill>
                <a:latin typeface="Noto Sans SC"/>
                <a:ea typeface="Noto Sans SC"/>
                <a:cs typeface="Noto Sans SC"/>
                <a:sym typeface="Noto Sans SC"/>
              </a:rPr>
              <a:t>解析能力测试</a:t>
            </a:r>
            <a:endParaRPr lang="en-US" sz="1100"/>
          </a:p>
        </p:txBody>
      </p:sp>
      <p:sp>
        <p:nvSpPr>
          <p:cNvPr name="AutoShape 13" id="13"/>
          <p:cNvSpPr/>
          <p:nvPr/>
        </p:nvSpPr>
        <p:spPr>
          <a:xfrm rot="0" flipH="false" flipV="false">
            <a:off x="7620000" y="4318000"/>
            <a:ext cx="2540000" cy="1270000"/>
          </a:xfrm>
          <a:prstGeom prst="roundRect">
            <a:avLst>
              <a:gd name="adj" fmla="val 10000"/>
            </a:avLst>
          </a:prstGeom>
          <a:solidFill>
            <a:srgbClr val="FFFFFF">
              <a:alpha val="10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686800" y="4508500"/>
            <a:ext cx="406400" cy="406400"/>
          </a:xfrm>
          <a:prstGeom prst="rect">
            <a:avLst/>
          </a:prstGeom>
        </p:spPr>
      </p:pic>
      <p:sp>
        <p:nvSpPr>
          <p:cNvPr name="AutoShape 15" id="15"/>
          <p:cNvSpPr/>
          <p:nvPr/>
        </p:nvSpPr>
        <p:spPr>
          <a:xfrm rot="0" flipH="false" flipV="false">
            <a:off x="7747000" y="4953000"/>
            <a:ext cx="228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solidFill>
                <a:latin typeface="Noto Sans SC"/>
                <a:ea typeface="Noto Sans SC"/>
                <a:cs typeface="Noto Sans SC"/>
                <a:sym typeface="Noto Sans SC"/>
              </a:rPr>
              <a:t>格式标准规范</a:t>
            </a:r>
            <a:endParaRPr lang="en-US" sz="1100"/>
          </a:p>
        </p:txBody>
      </p:sp>
      <p:pic>
        <p:nvPicPr>
          <p:cNvPr name="Picture 16" id="16"/>
          <p:cNvPicPr>
            <a:picLocks noChangeAspect="true"/>
          </p:cNvPicPr>
          <p:nvPr/>
        </p:nvPicPr>
        <p:blipFill>
          <a:blip r:embed="rId10"/>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